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0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562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514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Isolation Forest (DIF)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32461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axis-parallel cuts to non-linear projections via random neural networks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Anomaly Detection?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</a:t>
            </a: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abnormality score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data object — </a:t>
            </a: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required (unsupervised learning)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points that deviate structurally from the majority, not just statistically (Anomalies).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Function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3017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: D → ℝᴿ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3502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{o₁, …, oₙ}   ·   Higher score = more anomalous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Electricity Theft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6550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abnormal consumption patterns in metered data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24028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23317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Fraud Detection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26609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irregular financial transactions in real time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4612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33375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Fault Diagnosis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6667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sensor anomalies in industrial systems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Intuition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are rare and different — they require fewer random splits to isolate than normal points surrounded by similar neighbours. Shorter path through the tree → more anomalous.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933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iTree Construction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subsample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initialises root node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random feature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and random split threshold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≤ η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&gt;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leaf size = 1 or max depth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3886200" cy="1508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86868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83480" y="1170432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F(o|T) = 2⁻ ᴹ[|p(o|τ)|] / C(n)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64592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|p(o|τ)| = path length in tree 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C(n) = normalising constant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→ higher score → more anomalous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0" y="2395728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2743200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2807208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Linear time complexity O(N)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3346704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3410712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distributional assumptions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3950208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4014216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Scales to large, high-dimensional datasets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Core Problems with iForest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160520" cy="36576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16052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— False Negatives (Hard Anomalies)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886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 is axis-parallel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random feature per split.
Anomalies detectable only through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combinations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be isolated by horizontal or vertical cuts alone.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failure case: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anomalies surrounded by a ring of normal points. No single feature separates them — iForest assigns a normal score.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3886200" cy="53035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 surrounded by ○○○  →  axis-parallel cuts cannot isolate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41248"/>
            <a:ext cx="4160520" cy="3657600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60520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3168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— Ghost Regions / Algorithmic Bias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1371600"/>
            <a:ext cx="3886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splits create artefact regions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empty areas of the data space.
Rectangular zones near clusters receive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unexpectedly low anomaly scores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despite containing no samples. The partitioning treats them as ‘normal’.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EIF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(random hyperplanes) partially reduces ghost regions but remains linear — non-linear anomaly boundaries still defeat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3840480"/>
            <a:ext cx="3886200" cy="530352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19472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partitions → dead zones → false sense of normality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— The Key Insight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cannot separate anomalies with linear cuts in the original space,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the data into new spaces where you can.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057400"/>
            <a:ext cx="27432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Space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inseparable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linear cut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90672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64408" y="2057400"/>
            <a:ext cx="274320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NN Projection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Randomly-initialised 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data non-linearly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08776" y="2057400"/>
            <a:ext cx="2743200" cy="1417320"/>
          </a:xfrm>
          <a:prstGeom prst="rect">
            <a:avLst/>
          </a:prstGeom>
          <a:solidFill>
            <a:srgbClr val="0F4C35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0216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Space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0216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iForest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works cleanly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8503920" cy="658368"/>
          </a:xfrm>
          <a:prstGeom prst="rect">
            <a:avLst/>
          </a:prstGeom>
          <a:solidFill>
            <a:srgbClr val="0D3349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cut in projected space  =  Non-linear cut in original space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" y="45262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are randomly initialized, not trained. We prefer diversity over optimisation.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 Algorithm — Three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Representation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8912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randomly initialised NNs φ₁…φᵣ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maps all data → ℝᵈ projected space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weights → diverse views of data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G(D) = { Xᵤ | Xᵤ = φᵤ(D; θᵤ) }ᵐᵘ⁽ᵤ⁼₁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18688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0248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70248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355848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iTrees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Spaces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83280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0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isolation trees per representation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axis-parallel splits in Xᵤ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0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trees T = r × 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83280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0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cut in Xᵤ ≡ non-linear in original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214616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214616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300216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DEAS Scoring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(Deviation-Enhanced)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37376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27648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19088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depth score with split deviation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27648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deviation → dense region → penalised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27648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19088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deviation → sparse region → amplified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27648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19088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depth term × deviation term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DEAS — Deviation-Enhanced Anomaly Scoring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Deviation Degree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g(xᵤ|τᵢ) = (1/|p|) Σ |xᵤ⁽ʲᵏ⁾ − ηₖ|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split k along the path, measures how far the data point deviates from the split threshold ηₖ. Averaged across all splits encountered.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011680" cy="146304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g(x)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suppressed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651760"/>
            <a:ext cx="2011680" cy="146304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g(x)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Sparse / isolated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amplified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8412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DEAS Score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9319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12801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9F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Fᴰᴱᴬₛ(o|T) =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83480" y="1581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2⁻ᴹ[|p|]/C(T)   ×   ᴸ[g(xᵤ|τᵢ)]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term   ×   Deviation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0" y="26060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achieves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44368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iForest path length does not account for density context. DEAS adds spatial awareness: points consistently near split boundaries live in crowded regions and get reduced; points far from boundaries inhabit sparse, genuinely anomalous space and get amplified.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 — Computation-Efficient Representation Ensemble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886968"/>
            <a:ext cx="7955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 separate networks run sequentially → cost scales linearly with r. CERE computes all r representations in a single batched operation.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CERE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ensemble member i shares a base matrix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further diversified by two small random vectors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∈ ℝᵐ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qᵢ ∈ ℝⁿ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
</a:t>
            </a: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Wᵢ  =  W₀ ∘ (pᵢ qᵢᵀ)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∘ = element-wise Hadamard product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 representations are computed as a single parallel batch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≈ one forward pass regardless of 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508760"/>
            <a:ext cx="3886200" cy="20939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37760" y="3116291"/>
            <a:ext cx="3611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37760" y="3207731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representations ≈ cost of 1 forward pass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320540"/>
            <a:ext cx="82296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438454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complexity: O(N · D · r · t) — linear in data size N, dimensionality D, and ensemble size. Inherits iForest’s scalability.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3C5F45B-E0C0-2C01-FFAE-4B6FB603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714" y="1799711"/>
            <a:ext cx="3695411" cy="1030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Random (Not Trained) Representations?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counterintuitive design choice — and the most important.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5272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5272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28016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are not universal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optimised for one dataset’s anomaly structure is a poor fit for another. There is no single supervised objective that generalises across diverse anomaly types — trained representations are inherently dataset-biased.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67004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7004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kills diversity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308152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scoring works because the ensemble covers many different views. Optimising all representations toward the same objective causes convergence — the ensemble collapses into a single view, destroying the benefit of ensembling entirely.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 works instead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9472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projections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19472" y="1938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random weights fold the data space differently — no two networks produce the same view.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578608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5786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19472" y="26517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activations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19472" y="29626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ReLU, Tanh etc. bend space even without training — creating genuinely non-linear transformation surfaces.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02736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3602736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9472" y="367588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through ensemble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919472" y="39867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anomalies inseparable in original space are isolated in at least some projected spaces; averaging surfaces them.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vs iForest vs EIF — What Changed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96112"/>
            <a:ext cx="28346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896112"/>
            <a:ext cx="164592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91840" y="914400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83480" y="896112"/>
            <a:ext cx="155448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91440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29400" y="896112"/>
            <a:ext cx="228600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91440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344168"/>
            <a:ext cx="283464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4048" y="1371600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type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344168"/>
            <a:ext cx="164592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0128" y="1371600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83480" y="1344168"/>
            <a:ext cx="155448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47488" y="1371600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Oblique linear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29400" y="1344168"/>
            <a:ext cx="228600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93408" y="1371600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(NN proj.)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002536"/>
            <a:ext cx="283464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4048" y="2029968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region bias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002536"/>
            <a:ext cx="164592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0128" y="2029968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Severe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83480" y="2002536"/>
            <a:ext cx="155448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47488" y="2029968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Partial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2002536"/>
            <a:ext cx="228600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93408" y="2029968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Eliminated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2660904"/>
            <a:ext cx="283464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4048" y="2688336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anomaly detection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2660904"/>
            <a:ext cx="164592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0128" y="2688336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Misses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83480" y="2660904"/>
            <a:ext cx="155448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47488" y="2688336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Partial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29400" y="2660904"/>
            <a:ext cx="228600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93408" y="2688336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Exposed via proj.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3319272"/>
            <a:ext cx="283464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84048" y="3346704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 data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46120" y="3319272"/>
            <a:ext cx="164592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10128" y="3346704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Scales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83480" y="3319272"/>
            <a:ext cx="155448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47488" y="3346704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OOM risk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629400" y="3319272"/>
            <a:ext cx="228600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693408" y="3346704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Projects to small 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0040" y="3977640"/>
            <a:ext cx="283464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84048" y="4005072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3977640"/>
            <a:ext cx="164592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10128" y="4005072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linear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983480" y="3977640"/>
            <a:ext cx="155448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047488" y="4005072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linear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629400" y="3977640"/>
            <a:ext cx="228600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693408" y="4005072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via CERE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Optimised Deep Isolation Forest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20040" y="2487168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321868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detection quality. Fraction of the compute.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3931920"/>
            <a:ext cx="4754880" cy="50292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95928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logic · DEAS scoring · CERE — all unchanged. Only the training phase is restructured.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DIF’s Training Phase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 does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114800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362456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62456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37160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all N samples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4592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dataset passes through CERE into r representations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1226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112264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12140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all representations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239572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O(Nrb) memory consumed before any trees are built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86207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862072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28712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at tree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3145536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r×t trees draws n samples from the already-stored data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58768"/>
            <a:ext cx="411480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Each tree uses only n = 256 samples. The other N − n transforms are computed and stored for nothing.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86868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training samples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12801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161848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100,000)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039112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2103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used per tree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20848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242316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(default: 256)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43784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9077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samples needed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237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× 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83480" y="3227832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 × 256 = 25,600)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648456"/>
            <a:ext cx="388620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37124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transformations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36941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− tn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983480" y="403250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~74,400 in this example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— Sample First, Transform Second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8408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all needed indices upfront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n total indices selected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95728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96312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96312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54680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54680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87752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unique indices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sample transformed at most once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72584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72584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30952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30952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64024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64024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CERE to reduced subset only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 the full N dataset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48272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48856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48856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507224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07224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40296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Trees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0296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pre-sampled data to each tree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re-sampling at construction time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9317" y="336593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Comparison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49317" y="3731696"/>
            <a:ext cx="21945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5037" y="3749984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35317" y="3731696"/>
            <a:ext cx="24688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781037" y="374998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Complexity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5637" y="3731696"/>
            <a:ext cx="192024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41357" y="3749984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(reprs.)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307317" y="3731696"/>
            <a:ext cx="1645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353037" y="374998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variable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9317" y="4124888"/>
            <a:ext cx="219456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22469" y="415232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735317" y="4124888"/>
            <a:ext cx="246888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808469" y="4152320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O(Nar + rt·log n)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295637" y="4124888"/>
            <a:ext cx="19202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368789" y="4152320"/>
            <a:ext cx="1847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O(Nrb)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307317" y="4124888"/>
            <a:ext cx="164592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380469" y="415232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full dataset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49317" y="4536368"/>
            <a:ext cx="219456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22469" y="456380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2735317" y="4536368"/>
            <a:ext cx="246888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08469" y="4563800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O(tnar + rt·log n)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295637" y="4536368"/>
            <a:ext cx="192024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368789" y="4563800"/>
            <a:ext cx="1847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O(tnrb)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307317" y="4536368"/>
            <a:ext cx="164592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380469" y="456380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≪ N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48655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large datasets where N ≫ tn, the reduction is substantial — only samples that will actually be used are ever transformed.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Results — 18 Real-World Datasets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4582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73152" cy="10972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3268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 (PR AUC)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= DIF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60320" y="13533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0.52  —  statistically indistinguishable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6576" cy="914400"/>
          </a:xfrm>
          <a:prstGeom prst="rect">
            <a:avLst/>
          </a:prstGeom>
          <a:solidFill>
            <a:srgbClr val="2A4A6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87568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significantly outperform iForest, ECOD, SGAE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87568" y="13716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20040" y="2103120"/>
            <a:ext cx="4160520" cy="228600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73152" cy="2286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17627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Speed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542032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261518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17320" y="2542032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~1.5×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651760" y="2670048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 average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several-fold on large datasets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38144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51129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3438144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~150×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651760" y="356616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 vs ~2,600 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training run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2103120"/>
            <a:ext cx="4160520" cy="228600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2103120"/>
            <a:ext cx="73152" cy="2286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Reduction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2542032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26151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06440" y="254203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132320" y="28072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on average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3438144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355228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06440" y="3438144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~55%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32320" y="3703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on average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0040" y="4617720"/>
            <a:ext cx="8458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preserved — only training efficiency changes. ODIF is a strict improvement over DIF.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18872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002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Applied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23317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 on NPDCL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0040" y="2834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9F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Consumption Data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34290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Power Distribution Company of Telangana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3977640"/>
            <a:ext cx="8458200" cy="566928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050792"/>
            <a:ext cx="8183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meter tampering, illegal connections, and faulty equipment via unsupervised anomaly scoring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 — NPDCL Electricity Consumption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169164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841248"/>
            <a:ext cx="1627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Group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822960"/>
            <a:ext cx="333756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12848" y="841248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822960"/>
            <a:ext cx="32461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41848" y="841248"/>
            <a:ext cx="3182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234440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1280160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840" y="1234440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12848" y="1280160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Circle, Division, SubDivision,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Section, Area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234440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41848" y="1280160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of location — high mutual association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984248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2029968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48840" y="1984248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12848" y="2029968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TotServices, BilledServices,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Units, 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984248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41848" y="2029968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signal columns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734056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9768" y="2779776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48840" y="2734056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12848" y="2779776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month, month_name,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2734056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779776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encodings — collapsed to time_index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483864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9768" y="3529584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48840" y="3483864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12848" y="3529584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CatCode, CatDesc, resource_id,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resource_title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77840" y="3483864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41848" y="3529584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variance / pure ID columns — dropped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32511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2019 used as representative EDA sample. Extended to 3 sampled files (Jan 2019, May 2022, Dec 2025) before committing to the full dataset.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1261872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73152" cy="12618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12064" y="91440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914400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93268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Zero-Variance 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61872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CatCode (always 7), year, month, CatDesc, month_name, timestamp, resource_id, resource_title showed zero variance within and across all sampled files.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discriminating signal — flagged for immediate removal.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932688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0" y="996696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df['CatCode'].value_counts()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Returns: {7: 7105}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Single value across all rows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73152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2064" y="226771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" y="2267712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28600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 |r| &gt; 0.85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15184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TotServices ↔ BilledServices: highly correlated — one dropped.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↔ Load: highly correlated — one dropped.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analysis confirmed severe multicollinearity across all flagged columns.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77840" y="2286000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0" y="2350008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High VIF confirmed for: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TotServices, BilledServices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Units, Load, year, month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547872"/>
            <a:ext cx="8412480" cy="1261872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73152" cy="12618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2064" y="362102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" y="3621024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60273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Cramér’s V — Geographic Columns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3922776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Division, SubDivision, Section, Area showed strong mutual association.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dropped — encoded into 1 composite location-frequency feature.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3639312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69280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 geo cols → 1 frequency feature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'areas' encodes relative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location weight per row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950976"/>
            <a:ext cx="1554480" cy="274320"/>
          </a:xfrm>
          <a:prstGeom prst="rect">
            <a:avLst/>
          </a:prstGeom>
          <a:solidFill>
            <a:srgbClr val="EFF6FF"/>
          </a:solidFill>
          <a:ln w="1016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871216" y="96012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31673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1208" y="136245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(year - year.min()) * 12 + month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redundant year/month into a single monotonic temporal signal. Removes both correlated columns in one step.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84124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84124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93268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96912" y="950976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06056" y="96012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signal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92040" y="131673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56048" y="136245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BilledServices / TotServices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175564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services actually billed. Close to 0 → consumption without billing — direct theft signal. Encodes the billing anomaly explicitly.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85292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285292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29443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862072" y="2962656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71216" y="297180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signal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2841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1208" y="337413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 / Load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376732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consumed per unit of load. Abnormally high ratio → meter under-reporting true consumption. Captures stuck/tampered/bypassed meters.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85292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54880" y="285292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29443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296912" y="2962656"/>
            <a:ext cx="1554480" cy="274320"/>
          </a:xfrm>
          <a:prstGeom prst="rect">
            <a:avLst/>
          </a:prstGeom>
          <a:solidFill>
            <a:srgbClr val="F0FDF4"/>
          </a:solidFill>
          <a:ln w="1016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06056" y="297180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encoding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32841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56048" y="337413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loc.value_counts(normalize=True)[row]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92040" y="376732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all 5 geographic columns into relative location frequency. Rare location combinations receive low weights, flagging unusual areas.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47457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input:   X = df[["time_index",  "billing_rate",  "efficiency",  "areas"]]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Distribution — January 2019 Sample  (n = 7,105)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14173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0624" y="8595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874520" y="841248"/>
            <a:ext cx="10515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29384" y="8595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841248"/>
            <a:ext cx="8686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72384" y="85953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77640" y="841248"/>
            <a:ext cx="6400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32504" y="859536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841248"/>
            <a:ext cx="41148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64024" y="859536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1234440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0624" y="128016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1234440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29384" y="12801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561.88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17520" y="1234440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72384" y="1280160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77640" y="1234440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32504" y="1280160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1234440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64024" y="128016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right skew — extreme high-consumption outliers present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1709928"/>
            <a:ext cx="14173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0624" y="175564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1709928"/>
            <a:ext cx="10515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929384" y="175564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17520" y="1709928"/>
            <a:ext cx="8686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072384" y="175564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977640" y="1709928"/>
            <a:ext cx="640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32504" y="1755648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09160" y="1709928"/>
            <a:ext cx="41148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64024" y="1755648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Units — correlated extreme tails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2185416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0624" y="223113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2185416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929384" y="223113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17520" y="2185416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072384" y="2231136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977640" y="2185416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032504" y="2231136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−0.55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09160" y="2185416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64024" y="2231136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Bimodal: 0 (entirely unbilled) and 1 (fully billed)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2660904"/>
            <a:ext cx="141732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20624" y="270662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2660904"/>
            <a:ext cx="105156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929384" y="270662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49.16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017520" y="2660904"/>
            <a:ext cx="86868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072384" y="2706624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167.91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77640" y="2660904"/>
            <a:ext cx="64008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032504" y="2706624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19.27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709160" y="2660904"/>
            <a:ext cx="411480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64024" y="2706624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heavy tail — primary range for theft signals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65760" y="3136392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20624" y="318211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74520" y="3136392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929384" y="318211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017520" y="3136392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072384" y="3182112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977640" y="3136392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032504" y="3182112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709160" y="3136392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764024" y="3182112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Frequency-encoded location weight — rare areas score low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65760" y="3703320"/>
            <a:ext cx="841248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02920" y="376732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applied — normalises to zero mean and unit variance before ODIF.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77840" y="37947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scaler.fit_transform(X)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65760" y="4325112"/>
            <a:ext cx="8412480" cy="548640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16 rows had Load = 0 → efficiency undefined (division by zero). Dropped before modelling. Final dataset: 7,105 rows.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Configuration — ODIF on NPDCL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20624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DeepIF Configuration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353312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52928" y="1389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11880" y="140817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mode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2" y="1755648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79222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representations_number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52928" y="179222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80" y="1810512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50 projection spaces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" y="2157984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1945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trees_per_representation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52928" y="219456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11880" y="2212848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 trees 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" y="2560320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59689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samples_number_per_tree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52928" y="259689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2615184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256 per tree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" y="2962656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29992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network_hidden_dimensions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52928" y="299923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[500]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11880" y="301752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hidden layer MLP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" y="3364992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34015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representation_dimensionality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52928" y="34015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341985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to ℝ²⁰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" y="3767328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3803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52928" y="380390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11880" y="3822192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868680"/>
            <a:ext cx="416052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00600" y="96012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Pre-Sampling Impact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00600" y="1371600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19472" y="14356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built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55080" y="143560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× t = 50 × 6 = 300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00600" y="1901952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919472" y="19659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needed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55080" y="19659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× n = 6 × 256 = 1,536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00600" y="2432304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919472" y="24963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 transforms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55080" y="249631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N rows (100,000+)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00600" y="2962656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19472" y="3026664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transforms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55080" y="302666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≤1,536 unique rows only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00600" y="3547872"/>
            <a:ext cx="3886200" cy="566928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92040" y="365760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~65× fewer samples transformed by CERE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Profile — What the Model Found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vs Anomalous Mean Comparison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28930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0624" y="120700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37360" y="1188720"/>
            <a:ext cx="12435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92224" y="1207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mean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188720"/>
            <a:ext cx="119786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18104" y="12070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mean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5968" y="1188720"/>
            <a:ext cx="14721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70832" y="12070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5819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0624" y="16276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737360" y="15819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92224" y="16276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~0.65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63240" y="15819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18104" y="16276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~0.18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15819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70832" y="16276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Low — theft signal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039112"/>
            <a:ext cx="128930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20624" y="20848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737360" y="2039112"/>
            <a:ext cx="12435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792224" y="20848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63240" y="2039112"/>
            <a:ext cx="119786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118104" y="20848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15968" y="2039112"/>
            <a:ext cx="14721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370832" y="20848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High — tampering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24963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20624" y="25420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737360" y="24963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792224" y="25420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63240" y="24963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18104" y="25420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315968" y="24963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70832" y="25420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29535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20624" y="29992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737360" y="29535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792224" y="29992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063240" y="29535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118104" y="29992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315968" y="29535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370832" y="29992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Rare locations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080760" y="1188720"/>
            <a:ext cx="2743200" cy="324612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080760" y="1188720"/>
            <a:ext cx="73152" cy="3246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263640" y="12618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 Tampering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Bypass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63640" y="1828800"/>
            <a:ext cx="245059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consumption
(Units ↑ and Load ↑)
</a:t>
            </a: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Under-reporting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billed
services (billing_rate ↓)
</a:t>
            </a: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units-to-load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(efficiency ↑)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is not accurately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capturing true consumption.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Cases — ODIF Pipeline Generalisability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834640" cy="3794760"/>
          </a:xfrm>
          <a:prstGeom prst="rect">
            <a:avLst/>
          </a:prstGeom>
          <a:solidFill>
            <a:srgbClr val="0D2F4E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960120"/>
            <a:ext cx="822960" cy="8229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883664"/>
            <a:ext cx="18288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Theft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" y="265176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meter tampering.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" y="3783724"/>
            <a:ext cx="2487168" cy="587108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385876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consumption · Low billing rate · High efficiency ratio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4408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70248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70248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01568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Faulty Equipment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consuming abnormal power relative to rated load.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0440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Distinguishable from theft via geographic context (industrial vs residential)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14616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214616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45936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patterns often precede equipment failures: overheating, motor wear, bearing failures.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73368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reduces downtime and repair cost before failure occurs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004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— 4 engineered features, ODIF scoring, 99th percentile threshold — applies across all three domains.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2522</Words>
  <Application>Microsoft Macintosh PowerPoint</Application>
  <PresentationFormat>On-screen Show (16:9)</PresentationFormat>
  <Paragraphs>437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Review — Deep Isolation Forest</dc:title>
  <dc:subject>PptxGenJS Presentation</dc:subject>
  <dc:creator>PptxGenJS</dc:creator>
  <cp:lastModifiedBy>Aman Jalan</cp:lastModifiedBy>
  <cp:revision>2</cp:revision>
  <dcterms:created xsi:type="dcterms:W3CDTF">2026-05-22T14:05:53Z</dcterms:created>
  <dcterms:modified xsi:type="dcterms:W3CDTF">2026-05-22T14:43:28Z</dcterms:modified>
</cp:coreProperties>
</file>
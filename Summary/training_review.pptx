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omments/modernComment_101_0.xml" ContentType="application/vnd.ms-powerpoint.comments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9"/>
  </p:notesMasterIdLst>
  <p:sldIdLst>
    <p:sldId id="256" r:id="rId2"/>
    <p:sldId id="257" r:id="rId3"/>
    <p:sldId id="258" r:id="rId4"/>
    <p:sldId id="280" r:id="rId5"/>
    <p:sldId id="259" r:id="rId6"/>
    <p:sldId id="260" r:id="rId7"/>
    <p:sldId id="261" r:id="rId8"/>
    <p:sldId id="263" r:id="rId9"/>
    <p:sldId id="262" r:id="rId10"/>
    <p:sldId id="264" r:id="rId11"/>
    <p:sldId id="266" r:id="rId12"/>
    <p:sldId id="267" r:id="rId13"/>
    <p:sldId id="268" r:id="rId14"/>
    <p:sldId id="270" r:id="rId15"/>
    <p:sldId id="271" r:id="rId16"/>
    <p:sldId id="272" r:id="rId17"/>
    <p:sldId id="278" r:id="rId18"/>
    <p:sldId id="273" r:id="rId19"/>
    <p:sldId id="282" r:id="rId20"/>
    <p:sldId id="284" r:id="rId21"/>
    <p:sldId id="283" r:id="rId22"/>
    <p:sldId id="275" r:id="rId23"/>
    <p:sldId id="285" r:id="rId24"/>
    <p:sldId id="276" r:id="rId25"/>
    <p:sldId id="287" r:id="rId26"/>
    <p:sldId id="279" r:id="rId27"/>
    <p:sldId id="277" r:id="rId2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ADDC1805-C575-522E-8777-9E1DA016861C}" name="Aman Jalan" initials="AJ" userId="bf43d9433e811258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F0E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577"/>
    <p:restoredTop sz="94610"/>
  </p:normalViewPr>
  <p:slideViewPr>
    <p:cSldViewPr snapToGrid="0" snapToObjects="1">
      <p:cViewPr>
        <p:scale>
          <a:sx n="163" d="100"/>
          <a:sy n="163" d="100"/>
        </p:scale>
        <p:origin x="1864" y="9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microsoft.com/office/2018/10/relationships/authors" Target="author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comments/modernComment_101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840DF4CD-DE00-5D46-A2B1-F03536443233}" authorId="{ADDC1805-C575-522E-8777-9E1DA016861C}" status="resolved" created="2026-06-11T09:09:07.951" complete="100000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0" sldId="257"/>
      <ac:spMk id="8" creationId="{00000000-0000-0000-0000-000000000000}"/>
      <ac:txMk cp="6" len="3">
        <ac:context len="10" hash="88407680"/>
      </ac:txMk>
    </ac:txMkLst>
    <p188:txBody>
      <a:bodyPr/>
      <a:lstStyle/>
      <a:p>
        <a:r>
          <a:rPr lang="en-US"/>
          <a:t>rewrite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45620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F4A53D-25B0-47E4-8633-4B52DAEC59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D29736-329E-C26D-07F2-350BE35D51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42710A-442F-A3F8-BA16-E277817F2C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837882-66E2-55C4-1444-DA6BDE6A07D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69713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32D9CA-40DF-F261-3E9F-4861AFC230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6A1E3C-C26C-EB49-2C4A-9525F4C971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92038E-4C91-FA44-1C74-DBD2EE3A73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564158-ACAE-0B98-AAD7-46DA467E338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781167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3D7878-8217-D077-047D-55144E46B0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9BD2FC-FAFD-3A2C-95E6-4D95F9AFAD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295265-AC77-CC34-F381-D781EC9AC7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8C6DDB-FD48-B622-CA8D-B33BC272709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07623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5799C7-1AF3-0E26-7CC6-65E0DDD686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0A5FBA-E47E-3696-32C5-8760FC1A9F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760FB6-035C-73C2-63B6-6D1637A3CA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93E460-6FB9-C31F-C3E3-254BF3CC066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377822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8AA290-0E0D-4C9D-1E7A-CBDECCD3C8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0841A7-48EA-522E-BD04-2C1C14FC82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BA8384-2E8F-6470-ACFC-DAA2AA341A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FDECF5-3523-AB13-4D6A-38047535D27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17471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E7615C-3B91-98BB-A7BD-D0BE23BC3D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334C5B-CDA0-C0F8-B93C-A9428152E00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89AEA2-68E8-F3E0-2A58-EED3806240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18D6D0-33F6-125D-AB4B-469686380DB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134434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FA12AB-320B-2A62-8F28-C3F0AF249E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2BD648-3B55-2917-37F4-38CB3E2DAE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320BF71-2470-95CC-92AC-5CEDD4CA31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AECCFC-86B4-48C2-FD01-875D20F1146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725911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63E05A-E461-BD06-FB4F-3703B03A41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8BC76B-D652-0216-8AA7-8EE1407167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AFA616-A654-0598-8399-48B166DB5D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5A217B-664E-758F-1061-B6768326DFE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616355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1_0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1280160"/>
            <a:ext cx="8503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kern="0" spc="400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REVIEW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20040" y="1691640"/>
            <a:ext cx="8503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Anomaly Detection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320040" y="2514600"/>
            <a:ext cx="8503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dirty="0">
                <a:solidFill>
                  <a:srgbClr val="14B8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Deep Isolation Forest (DIF)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320040" y="324612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projections via random neural network to make non-linear splits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Anomaly Detection?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Task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1182704"/>
            <a:ext cx="3931920" cy="1947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a model to assign an </a:t>
            </a: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abnormality score</a:t>
            </a: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every datapoint</a:t>
            </a:r>
          </a:p>
          <a:p>
            <a:pPr marL="0" indent="0">
              <a:buNone/>
            </a:pPr>
            <a:r>
              <a:rPr lang="en-US" sz="1250" b="1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  <a:sym typeface="Wingdings" pitchFamily="2" charset="2"/>
              </a:rPr>
              <a:t> </a:t>
            </a:r>
            <a:r>
              <a:rPr lang="en-US" sz="1250" b="1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labels required for training (unsupervised learning)</a:t>
            </a: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50" dirty="0"/>
          </a:p>
          <a:p>
            <a:pPr marL="0" indent="0">
              <a:buNone/>
            </a:pP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Purpose: Identify points that deviate structurally from the majority (anomalies).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663440" y="86868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663440" y="1234440"/>
            <a:ext cx="4023360" cy="896112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800600" y="132588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 Electricity Theft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800600" y="1655064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 abnormal consumption patterns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663440" y="2240280"/>
            <a:ext cx="4023360" cy="896112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800600" y="233172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 Fraud Detection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800600" y="2660904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 irregular financial transactions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663440" y="3246120"/>
            <a:ext cx="4023360" cy="896112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800600" y="333756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  Fault Diagnosis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800600" y="3666744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sensor anomalies in industrial machinery</a:t>
            </a:r>
            <a:endParaRPr lang="en-US" sz="1150" dirty="0"/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Foundation — Standard Isolation Forest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799136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Intuition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91744"/>
            <a:ext cx="4114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Anomalies are the minority and have attribute values that are very different from the normal instances — they require fewer random splits to isolate than normal points. 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Shorter path through the tree → more anomalous.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3401095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iTree Construction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3436227"/>
            <a:ext cx="4114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 </a:t>
            </a: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subsample </a:t>
            </a:r>
            <a:r>
              <a:rPr lang="en-SG" sz="1200" dirty="0" err="1"/>
              <a:t>ψ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initialises root node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 </a:t>
            </a: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random feature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j and random split threshold η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 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Split: </a:t>
            </a: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o⁽ʲ⁾ ≤ η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vs  </a:t>
            </a: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o⁽ʲ⁾ &gt; </a:t>
            </a:r>
            <a:r>
              <a:rPr lang="en-US" sz="1200" b="1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η</a:t>
            </a: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-&gt; (internal node)</a:t>
            </a:r>
            <a:endParaRPr lang="en-US" sz="1200" dirty="0"/>
          </a:p>
          <a:p>
            <a:pPr marL="228600" indent="-228600">
              <a:buAutoNum type="circleNumDbPlain" startAt="4"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Recurse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until leaf size = 1 or max depth -&gt; (external node)</a:t>
            </a:r>
            <a:endParaRPr lang="en-SG" dirty="0"/>
          </a:p>
        </p:txBody>
      </p:sp>
      <p:sp>
        <p:nvSpPr>
          <p:cNvPr id="19" name="Text 4">
            <a:extLst>
              <a:ext uri="{FF2B5EF4-FFF2-40B4-BE49-F238E27FC236}">
                <a16:creationId xmlns:a16="http://schemas.microsoft.com/office/drawing/2014/main" id="{CA4317E2-43B3-9647-D3AE-70991EDAC9F4}"/>
              </a:ext>
            </a:extLst>
          </p:cNvPr>
          <p:cNvSpPr/>
          <p:nvPr/>
        </p:nvSpPr>
        <p:spPr>
          <a:xfrm>
            <a:off x="457200" y="1997247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 err="1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iForest</a:t>
            </a: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Construction</a:t>
            </a:r>
            <a:endParaRPr lang="en-US" sz="1300" dirty="0"/>
          </a:p>
        </p:txBody>
      </p:sp>
      <p:sp>
        <p:nvSpPr>
          <p:cNvPr id="20" name="Text 5">
            <a:extLst>
              <a:ext uri="{FF2B5EF4-FFF2-40B4-BE49-F238E27FC236}">
                <a16:creationId xmlns:a16="http://schemas.microsoft.com/office/drawing/2014/main" id="{4658D977-51B9-615F-FDC1-944980868FD2}"/>
              </a:ext>
            </a:extLst>
          </p:cNvPr>
          <p:cNvSpPr/>
          <p:nvPr/>
        </p:nvSpPr>
        <p:spPr>
          <a:xfrm>
            <a:off x="457200" y="2115639"/>
            <a:ext cx="4114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 </a:t>
            </a: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Initialize forest</a:t>
            </a:r>
            <a:endParaRPr lang="en-US" sz="1200" dirty="0"/>
          </a:p>
          <a:p>
            <a:pPr marL="228600" indent="-228600">
              <a:buAutoNum type="circleNumDbPlain" startAt="2"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Set height limit l = ceiling(log</a:t>
            </a:r>
            <a:r>
              <a:rPr lang="en-US" sz="1200" b="1" baseline="-25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SG" sz="1200" dirty="0" err="1"/>
              <a:t>ψ</a:t>
            </a: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</a:p>
          <a:p>
            <a:pPr marL="228600" indent="-228600">
              <a:buAutoNum type="circleNumDbPlain" startAt="2"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cs typeface="Calibri" pitchFamily="34" charset="-120"/>
              </a:rPr>
              <a:t> For </a:t>
            </a:r>
            <a:r>
              <a:rPr lang="en-US" sz="1200" b="1" dirty="0" err="1">
                <a:solidFill>
                  <a:srgbClr val="475569"/>
                </a:solidFill>
                <a:latin typeface="Calibri" pitchFamily="34" charset="0"/>
                <a:cs typeface="Calibri" pitchFamily="34" charset="-120"/>
              </a:rPr>
              <a:t>i</a:t>
            </a: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cs typeface="Calibri" pitchFamily="34" charset="-120"/>
              </a:rPr>
              <a:t> = 1 to t:</a:t>
            </a:r>
          </a:p>
          <a:p>
            <a:pPr lvl="1"/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cs typeface="Calibri" pitchFamily="34" charset="-120"/>
              </a:rPr>
              <a:t>X’ &lt;-- sample(X, </a:t>
            </a:r>
            <a:r>
              <a:rPr lang="en-SG" sz="1200" dirty="0" err="1"/>
              <a:t>ψ</a:t>
            </a:r>
            <a:r>
              <a:rPr lang="en-SG" sz="1200" dirty="0"/>
              <a:t>)</a:t>
            </a:r>
          </a:p>
          <a:p>
            <a:pPr lvl="1"/>
            <a:r>
              <a:rPr lang="en-SG" sz="1200" b="1" dirty="0">
                <a:solidFill>
                  <a:srgbClr val="475569"/>
                </a:solidFill>
                <a:latin typeface="Calibri" pitchFamily="34" charset="0"/>
                <a:cs typeface="Calibri" pitchFamily="34" charset="-120"/>
              </a:rPr>
              <a:t>Forest </a:t>
            </a:r>
            <a:r>
              <a:rPr lang="en-SG" sz="1200" b="1" dirty="0">
                <a:solidFill>
                  <a:srgbClr val="475569"/>
                </a:solidFill>
                <a:latin typeface="Calibri" pitchFamily="34" charset="0"/>
                <a:cs typeface="Calibri" pitchFamily="34" charset="-120"/>
                <a:sym typeface="Wingdings" pitchFamily="2" charset="2"/>
              </a:rPr>
              <a:t> Forest U </a:t>
            </a:r>
            <a:r>
              <a:rPr lang="en-SG" sz="1200" b="1" dirty="0" err="1">
                <a:solidFill>
                  <a:srgbClr val="475569"/>
                </a:solidFill>
                <a:latin typeface="Calibri" pitchFamily="34" charset="0"/>
                <a:cs typeface="Calibri" pitchFamily="34" charset="-120"/>
                <a:sym typeface="Wingdings" pitchFamily="2" charset="2"/>
              </a:rPr>
              <a:t>iTree</a:t>
            </a:r>
            <a:r>
              <a:rPr lang="en-SG" sz="1200" b="1" dirty="0">
                <a:solidFill>
                  <a:srgbClr val="475569"/>
                </a:solidFill>
                <a:latin typeface="Calibri" pitchFamily="34" charset="0"/>
                <a:cs typeface="Calibri" pitchFamily="34" charset="-120"/>
                <a:sym typeface="Wingdings" pitchFamily="2" charset="2"/>
              </a:rPr>
              <a:t>(X’, 0, l)</a:t>
            </a:r>
            <a:endParaRPr lang="en-US" sz="1200" b="1" dirty="0">
              <a:solidFill>
                <a:srgbClr val="475569"/>
              </a:solidFill>
              <a:latin typeface="Calibri" pitchFamily="34" charset="0"/>
              <a:cs typeface="Calibri" pitchFamily="34" charset="-120"/>
            </a:endParaRP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D1C0D622-22C5-2095-CCA6-07215C04D7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4707" y="1290387"/>
            <a:ext cx="4265678" cy="256272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7C703B1-1978-8610-053E-BBBCE09DEE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Shape 6">
            <a:extLst>
              <a:ext uri="{FF2B5EF4-FFF2-40B4-BE49-F238E27FC236}">
                <a16:creationId xmlns:a16="http://schemas.microsoft.com/office/drawing/2014/main" id="{EC98F0D8-1A73-EEEE-2B0C-52CB89416F7D}"/>
              </a:ext>
            </a:extLst>
          </p:cNvPr>
          <p:cNvSpPr/>
          <p:nvPr/>
        </p:nvSpPr>
        <p:spPr>
          <a:xfrm>
            <a:off x="4734426" y="1405380"/>
            <a:ext cx="3886200" cy="1746985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2" name="Shape 0">
            <a:extLst>
              <a:ext uri="{FF2B5EF4-FFF2-40B4-BE49-F238E27FC236}">
                <a16:creationId xmlns:a16="http://schemas.microsoft.com/office/drawing/2014/main" id="{8E427AB2-D06C-D7FB-FA44-9BF8CACA706A}"/>
              </a:ext>
            </a:extLst>
          </p:cNvPr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482DA615-ACB5-BCBD-73E8-EF898E3A4BCB}"/>
              </a:ext>
            </a:extLst>
          </p:cNvPr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Foundation — Standard Isolation Forest</a:t>
            </a:r>
            <a:endParaRPr lang="en-US" sz="26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74516A0E-0E8F-EA17-3578-7D63C51233BF}"/>
              </a:ext>
            </a:extLst>
          </p:cNvPr>
          <p:cNvSpPr/>
          <p:nvPr/>
        </p:nvSpPr>
        <p:spPr>
          <a:xfrm>
            <a:off x="457200" y="852281"/>
            <a:ext cx="4114800" cy="432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Score</a:t>
            </a:r>
            <a:endParaRPr lang="en-US" sz="150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79CBCF29-54BF-6452-E9E4-3A6DC4D460B1}"/>
              </a:ext>
            </a:extLst>
          </p:cNvPr>
          <p:cNvSpPr/>
          <p:nvPr/>
        </p:nvSpPr>
        <p:spPr>
          <a:xfrm>
            <a:off x="365760" y="1405381"/>
            <a:ext cx="3886200" cy="1746985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0F89EC01-5461-6055-2815-13E1B4E0BCB1}"/>
              </a:ext>
            </a:extLst>
          </p:cNvPr>
          <p:cNvSpPr/>
          <p:nvPr/>
        </p:nvSpPr>
        <p:spPr>
          <a:xfrm>
            <a:off x="482466" y="2403698"/>
            <a:ext cx="3611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E(h(x)) = Average path length across all trees in </a:t>
            </a:r>
            <a:r>
              <a:rPr lang="en-US" sz="1050" dirty="0" err="1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iForest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C(n) = normalising constant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Shorter path → higher score → more anomalous</a:t>
            </a:r>
            <a:endParaRPr lang="en-US" sz="1200" b="1" dirty="0">
              <a:solidFill>
                <a:srgbClr val="475569"/>
              </a:solidFill>
              <a:latin typeface="Calibri" pitchFamily="34" charset="0"/>
              <a:cs typeface="Calibri" pitchFamily="34" charset="-120"/>
            </a:endParaRP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0FFB0C95-6EF6-24F0-0794-BF2D98F43F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0919" y="1524573"/>
            <a:ext cx="1894974" cy="7050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D3064F1-6AAC-03B9-386B-1609BC9103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5866" y="1524573"/>
            <a:ext cx="3703320" cy="684683"/>
          </a:xfrm>
          <a:prstGeom prst="rect">
            <a:avLst/>
          </a:prstGeom>
        </p:spPr>
      </p:pic>
      <p:sp>
        <p:nvSpPr>
          <p:cNvPr id="14" name="Text 9">
            <a:extLst>
              <a:ext uri="{FF2B5EF4-FFF2-40B4-BE49-F238E27FC236}">
                <a16:creationId xmlns:a16="http://schemas.microsoft.com/office/drawing/2014/main" id="{7B9447A9-F4C7-16FB-F5F5-9AED894CB477}"/>
              </a:ext>
            </a:extLst>
          </p:cNvPr>
          <p:cNvSpPr/>
          <p:nvPr/>
        </p:nvSpPr>
        <p:spPr>
          <a:xfrm>
            <a:off x="4871586" y="2403698"/>
            <a:ext cx="3611880" cy="6228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0F0EC"/>
                </a:solidFill>
                <a:latin typeface="Calibri" pitchFamily="34" charset="0"/>
                <a:cs typeface="Calibri" pitchFamily="34" charset="-120"/>
              </a:rPr>
              <a:t>H(</a:t>
            </a:r>
            <a:r>
              <a:rPr lang="en-US" sz="1050" dirty="0" err="1">
                <a:solidFill>
                  <a:srgbClr val="00F0EC"/>
                </a:solidFill>
                <a:latin typeface="Calibri" pitchFamily="34" charset="0"/>
                <a:cs typeface="Calibri" pitchFamily="34" charset="-120"/>
              </a:rPr>
              <a:t>i</a:t>
            </a:r>
            <a:r>
              <a:rPr lang="en-US" sz="1050" dirty="0">
                <a:solidFill>
                  <a:srgbClr val="00F0EC"/>
                </a:solidFill>
                <a:latin typeface="Calibri" pitchFamily="34" charset="0"/>
                <a:cs typeface="Calibri" pitchFamily="34" charset="-120"/>
              </a:rPr>
              <a:t>) = harmonic number = ln(</a:t>
            </a:r>
            <a:r>
              <a:rPr lang="en-US" sz="1050" dirty="0" err="1">
                <a:solidFill>
                  <a:srgbClr val="00F0EC"/>
                </a:solidFill>
                <a:latin typeface="Calibri" pitchFamily="34" charset="0"/>
                <a:cs typeface="Calibri" pitchFamily="34" charset="-120"/>
              </a:rPr>
              <a:t>i</a:t>
            </a:r>
            <a:r>
              <a:rPr lang="en-US" sz="1050" dirty="0">
                <a:solidFill>
                  <a:srgbClr val="00F0EC"/>
                </a:solidFill>
                <a:latin typeface="Calibri" pitchFamily="34" charset="0"/>
                <a:cs typeface="Calibri" pitchFamily="34" charset="-120"/>
              </a:rPr>
              <a:t>) + 0.5772156649 (Euler’s constant). </a:t>
            </a:r>
          </a:p>
          <a:p>
            <a:pPr marL="0" indent="0" algn="ctr">
              <a:buNone/>
            </a:pPr>
            <a:r>
              <a:rPr lang="en-US" sz="1050" dirty="0">
                <a:solidFill>
                  <a:srgbClr val="00F0EC"/>
                </a:solidFill>
                <a:latin typeface="Calibri" pitchFamily="34" charset="0"/>
                <a:cs typeface="Calibri" pitchFamily="34" charset="-120"/>
              </a:rPr>
              <a:t>c(n) is the average of h(x) given n, we use it to </a:t>
            </a:r>
            <a:r>
              <a:rPr lang="en-US" sz="1050" dirty="0" err="1">
                <a:solidFill>
                  <a:srgbClr val="00F0EC"/>
                </a:solidFill>
                <a:latin typeface="Calibri" pitchFamily="34" charset="0"/>
                <a:cs typeface="Calibri" pitchFamily="34" charset="-120"/>
              </a:rPr>
              <a:t>normalise</a:t>
            </a:r>
            <a:r>
              <a:rPr lang="en-US" sz="1050" dirty="0">
                <a:solidFill>
                  <a:srgbClr val="00F0EC"/>
                </a:solidFill>
                <a:latin typeface="Calibri" pitchFamily="34" charset="0"/>
                <a:cs typeface="Calibri" pitchFamily="34" charset="-120"/>
              </a:rPr>
              <a:t> h(x)</a:t>
            </a:r>
          </a:p>
        </p:txBody>
      </p:sp>
    </p:spTree>
    <p:extLst>
      <p:ext uri="{BB962C8B-B14F-4D97-AF65-F5344CB8AC3E}">
        <p14:creationId xmlns:p14="http://schemas.microsoft.com/office/powerpoint/2010/main" val="38892606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Core Problems with iForest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20040" y="841248"/>
            <a:ext cx="4160520" cy="3657600"/>
          </a:xfrm>
          <a:prstGeom prst="rect">
            <a:avLst/>
          </a:prstGeom>
          <a:solidFill>
            <a:srgbClr val="FFF5F5"/>
          </a:solidFill>
          <a:ln w="12700">
            <a:solidFill>
              <a:srgbClr val="FCA5A5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841248"/>
            <a:ext cx="4160520" cy="43891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38912" y="896112"/>
            <a:ext cx="39502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1 — False Negatives (for Hard Anomalies)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57200" y="1425767"/>
            <a:ext cx="3886200" cy="10948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 err="1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iForest’s</a:t>
            </a:r>
            <a:r>
              <a:rPr lang="en-US" sz="1200" b="1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splits are ONLY axis-parallel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ONLY one random feature per split.
However, anomalies that are only detectable through </a:t>
            </a: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combinations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cannot be isolated by horizontal or vertical cuts alone.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3840480"/>
            <a:ext cx="3886200" cy="530352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94360" y="3913632"/>
            <a:ext cx="3611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⊗ surrounded by ○○○  →  axis-parallel cuts cannot isolate it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663440" y="841248"/>
            <a:ext cx="4160520" cy="3657600"/>
          </a:xfrm>
          <a:prstGeom prst="rect">
            <a:avLst/>
          </a:prstGeom>
          <a:solidFill>
            <a:srgbClr val="FFFBF0"/>
          </a:solidFill>
          <a:ln w="12700">
            <a:solidFill>
              <a:srgbClr val="FCD34D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663440" y="841248"/>
            <a:ext cx="4160520" cy="43891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773168" y="896112"/>
            <a:ext cx="39502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2 — Ghost Regions / Algorithmic Bias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800600" y="1371600"/>
            <a:ext cx="3886200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Axis-parallel splits create artefact regions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empty areas of the data space.
Rectangular zones near clusters receive </a:t>
            </a: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unexpectedly low anomaly scores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despite containing no samples. The partitioning treats them as ‘normal’.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800600" y="3840480"/>
            <a:ext cx="3886200" cy="530352"/>
          </a:xfrm>
          <a:prstGeom prst="rect">
            <a:avLst/>
          </a:prstGeom>
          <a:solidFill>
            <a:srgbClr val="FEF9C3"/>
          </a:solidFill>
          <a:ln w="12700">
            <a:solidFill>
              <a:srgbClr val="FCD34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919472" y="3913632"/>
            <a:ext cx="3611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Rectangular partitions → dead zones → false sense of normality</a:t>
            </a:r>
            <a:endParaRPr lang="en-US" sz="1100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49DEB2F1-5BE3-6A4A-7D74-6B06A104E6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4016" y="2427757"/>
            <a:ext cx="1281698" cy="1302995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94B82A42-9A65-27E7-CC71-207E6F3785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57602" y="2520641"/>
            <a:ext cx="1339093" cy="122986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274320"/>
            <a:ext cx="8503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 — Key Insights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20040" y="960120"/>
            <a:ext cx="8503920" cy="914400"/>
          </a:xfrm>
          <a:prstGeom prst="rect">
            <a:avLst/>
          </a:prstGeom>
          <a:solidFill>
            <a:srgbClr val="0D9488">
              <a:alpha val="18000"/>
            </a:srgbClr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 you cannot separate anomalies with linear cuts in the original space,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the data into new spaces where you can.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20040" y="2057400"/>
            <a:ext cx="2743200" cy="1417320"/>
          </a:xfrm>
          <a:prstGeom prst="rect">
            <a:avLst/>
          </a:prstGeom>
          <a:solidFill>
            <a:srgbClr val="1E3A5F"/>
          </a:solidFill>
          <a:ln w="12700">
            <a:solidFill>
              <a:srgbClr val="14B8A6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11480" y="214884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Original Space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11480" y="2578608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Anomalies inseparable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any linear cut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090672" y="2487168"/>
            <a:ext cx="182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264408" y="2057400"/>
            <a:ext cx="2743200" cy="1417320"/>
          </a:xfrm>
          <a:prstGeom prst="rect">
            <a:avLst/>
          </a:prstGeom>
          <a:solidFill>
            <a:srgbClr val="0D9488"/>
          </a:solidFill>
          <a:ln w="12700">
            <a:solidFill>
              <a:srgbClr val="14B8A6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355848" y="214884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Random NN Projection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355848" y="2578608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Randomly-initialized neural net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 data non-linearly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035040" y="2487168"/>
            <a:ext cx="182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208776" y="2057400"/>
            <a:ext cx="2743200" cy="1417320"/>
          </a:xfrm>
          <a:prstGeom prst="rect">
            <a:avLst/>
          </a:prstGeom>
          <a:solidFill>
            <a:srgbClr val="0F4C35"/>
          </a:solidFill>
          <a:ln w="12700">
            <a:solidFill>
              <a:srgbClr val="14B8A6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300216" y="214884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Projected Space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300216" y="2578608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Axis-parallel iForest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works cleanly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20040" y="3703320"/>
            <a:ext cx="8503920" cy="658368"/>
          </a:xfrm>
          <a:prstGeom prst="rect">
            <a:avLst/>
          </a:prstGeom>
          <a:solidFill>
            <a:srgbClr val="0D3349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57200" y="37490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4B8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Linear cut in projected space  =  Non-linear cut in original space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DIF Algorithm — Three Main Steps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" y="822960"/>
            <a:ext cx="2834640" cy="39776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325880" y="868680"/>
            <a:ext cx="731520" cy="73152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325880" y="868680"/>
            <a:ext cx="7315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11480" y="1673352"/>
            <a:ext cx="25603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Representation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Ensemble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377440"/>
            <a:ext cx="228600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38912" y="2487168"/>
            <a:ext cx="25146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30352" y="2542032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randomly </a:t>
            </a:r>
            <a:r>
              <a:rPr lang="en-US" sz="105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initialised</a:t>
            </a: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NNs  φ₁…φᵣ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38912" y="3035808"/>
            <a:ext cx="25146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30352" y="3090672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NN maps all data into a new projected space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38912" y="3584448"/>
            <a:ext cx="25146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30352" y="3639312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weights → diverse views of data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38912" y="4133088"/>
            <a:ext cx="25146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7" name="Shape 15"/>
          <p:cNvSpPr/>
          <p:nvPr/>
        </p:nvSpPr>
        <p:spPr>
          <a:xfrm>
            <a:off x="3218688" y="822960"/>
            <a:ext cx="2834640" cy="39776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4270248" y="868680"/>
            <a:ext cx="731520" cy="73152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270248" y="868680"/>
            <a:ext cx="7315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3355848" y="1673352"/>
            <a:ext cx="25603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iTrees in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Projected Spaces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493008" y="2377440"/>
            <a:ext cx="228600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3383280" y="2487168"/>
            <a:ext cx="25146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3474720" y="2542032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 isolation trees per representation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383280" y="3035808"/>
            <a:ext cx="25146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3474720" y="3090672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axis-parallel splits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3383280" y="3584448"/>
            <a:ext cx="25146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3474720" y="3639312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trees T = r × t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3383280" y="4133088"/>
            <a:ext cx="25146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3474720" y="4187952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cut in transformed space ≡ non-linear in original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6163056" y="822960"/>
            <a:ext cx="2834640" cy="39776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7214616" y="868680"/>
            <a:ext cx="731520" cy="73152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7214616" y="868680"/>
            <a:ext cx="7315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400" dirty="0"/>
          </a:p>
        </p:txBody>
      </p:sp>
      <p:sp>
        <p:nvSpPr>
          <p:cNvPr id="33" name="Text 31"/>
          <p:cNvSpPr/>
          <p:nvPr/>
        </p:nvSpPr>
        <p:spPr>
          <a:xfrm>
            <a:off x="6300216" y="1673352"/>
            <a:ext cx="25603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DEAS Scoring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(Deviation-Enhanced)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437376" y="2377440"/>
            <a:ext cx="228600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6327648" y="2487168"/>
            <a:ext cx="25146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6419088" y="2542032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Extends depth score with split deviation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327648" y="3035808"/>
            <a:ext cx="25146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6419088" y="3090672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deviation → dense region → not amplified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6327648" y="3584448"/>
            <a:ext cx="25146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6419088" y="3639312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deviation → sparse region → amplified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6327648" y="4133088"/>
            <a:ext cx="25146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6419088" y="4187952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= depth × deviation</a:t>
            </a:r>
            <a:endParaRPr lang="en-US" sz="1050" dirty="0"/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CD06B15F-C618-2DCA-AD36-EAD401A385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390" y="4223568"/>
            <a:ext cx="2495074" cy="3123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CERE — Computation-Efficient Representation Ensemble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548640"/>
          </a:xfrm>
          <a:prstGeom prst="rect">
            <a:avLst/>
          </a:prstGeom>
          <a:solidFill>
            <a:srgbClr val="FFF7ED"/>
          </a:solidFill>
          <a:ln w="12700">
            <a:solidFill>
              <a:srgbClr val="FED7A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94360" y="886968"/>
            <a:ext cx="79552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r separate networks run sequentially → cost scales linearly with r. CERE computes all r representations in a single batched operation.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508760"/>
            <a:ext cx="4114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CERE Works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554479"/>
            <a:ext cx="4114800" cy="264344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ensemble member shares a base matrix </a:t>
            </a: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W₀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further diversified by two small random vectors </a:t>
            </a: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pᵢ ∈ ℝᵐ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qᵢ ∈ ℝⁿ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
</a:t>
            </a:r>
            <a:r>
              <a:rPr lang="en-US" sz="15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Wᵢ  =  W₀ ∘ (pᵢ qᵢᵀ)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∘ = element-wise Hadamard product
</a:t>
            </a: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r representations are computed as a single parallel batch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cost ≈ one forward pass regardless of r.</a:t>
            </a:r>
          </a:p>
          <a:p>
            <a:pPr marL="0" indent="0">
              <a:buNone/>
            </a:pPr>
            <a:endParaRPr lang="en-US" sz="1200" dirty="0">
              <a:solidFill>
                <a:srgbClr val="475569"/>
              </a:solidFill>
              <a:latin typeface="Calibri" pitchFamily="34" charset="0"/>
              <a:cs typeface="Calibri" pitchFamily="34" charset="-120"/>
            </a:endParaRPr>
          </a:p>
          <a:p>
            <a:r>
              <a:rPr lang="en-US" sz="1200" dirty="0">
                <a:solidFill>
                  <a:srgbClr val="475569"/>
                </a:solidFill>
                <a:latin typeface="Calibri" pitchFamily="34" charset="0"/>
                <a:cs typeface="Calibri" pitchFamily="34" charset="-120"/>
              </a:rPr>
              <a:t>NOTE: Each layer has its own independent </a:t>
            </a: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W₀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846320" y="1508760"/>
            <a:ext cx="3886200" cy="2093976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937760" y="3116291"/>
            <a:ext cx="36118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937760" y="3207731"/>
            <a:ext cx="3611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representations ≈ cost of 1 forward pass</a:t>
            </a:r>
            <a:endParaRPr lang="en-US" sz="1150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13C5F45B-E0C0-2C01-FFAE-4B6FB60353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1714" y="1799711"/>
            <a:ext cx="3695411" cy="103059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DEAS — Deviation-Enhanced Anomaly Scoring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841248"/>
            <a:ext cx="4114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Averaged Deviation Degree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4114800" cy="658368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7200" y="1920240"/>
            <a:ext cx="4114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each split k along the path, measures how far the data point deviates from the split threshold ηₖ. Averaged across all splits encountered.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2651760"/>
            <a:ext cx="2011680" cy="1463040"/>
          </a:xfrm>
          <a:prstGeom prst="rect">
            <a:avLst/>
          </a:prstGeom>
          <a:solidFill>
            <a:srgbClr val="EFF6FF"/>
          </a:solidFill>
          <a:ln w="19050">
            <a:solidFill>
              <a:srgbClr val="BFDBFE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48640" y="2743200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g(x)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3072384"/>
            <a:ext cx="18288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to threshold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Dense region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Score suppressed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606040" y="2651760"/>
            <a:ext cx="2011680" cy="1463040"/>
          </a:xfrm>
          <a:prstGeom prst="rect">
            <a:avLst/>
          </a:prstGeom>
          <a:solidFill>
            <a:srgbClr val="F0FDF4"/>
          </a:solidFill>
          <a:ln w="19050">
            <a:solidFill>
              <a:srgbClr val="BBF7D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697480" y="2743200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45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g(x)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697480" y="3072384"/>
            <a:ext cx="18288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from threshold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Sparse / isolated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Score amplified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846320" y="841248"/>
            <a:ext cx="3931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DEAS Score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846320" y="1188720"/>
            <a:ext cx="3931920" cy="128016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983480" y="2057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 term   ×   Deviation term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846320" y="2723804"/>
            <a:ext cx="3931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achieves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846320" y="2944368"/>
            <a:ext cx="39319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iForest path length does not account for density context. DEAS does: points consistently near split boundaries live in crowded regions and its anomaly score gets suppressed; points far from boundaries inhabit sparse, genuinely anomalous space and its anomaly score gets amplified.</a:t>
            </a:r>
            <a:endParaRPr lang="en-US" sz="1150" dirty="0"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BF2E2F32-059B-A963-3D2E-C2B5798C29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4752" y="1425822"/>
            <a:ext cx="3530608" cy="348755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3851B572-D9E8-3A8B-D55B-EA1EFB4F12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4494" y="1261872"/>
            <a:ext cx="2963092" cy="54973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Random (Not Trained) Representations?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74980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counterintuitive design choice — and the most important.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4114800" cy="1298448"/>
          </a:xfrm>
          <a:prstGeom prst="rect">
            <a:avLst/>
          </a:prstGeom>
          <a:solidFill>
            <a:srgbClr val="FFF5F5"/>
          </a:solidFill>
          <a:ln w="12700">
            <a:solidFill>
              <a:srgbClr val="FCA5A5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1252728"/>
            <a:ext cx="402336" cy="40233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7200" y="1252728"/>
            <a:ext cx="402336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60120" y="1280160"/>
            <a:ext cx="33832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functions are not universal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02920" y="1664208"/>
            <a:ext cx="384048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loss optimised for one dataset’s anomaly structure is a poor fit for another. There is no single supervised objective that generalises across diverse anomaly types — trained representations are inherently dataset-biased.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65760" y="2606040"/>
            <a:ext cx="4114800" cy="1298448"/>
          </a:xfrm>
          <a:prstGeom prst="rect">
            <a:avLst/>
          </a:prstGeom>
          <a:solidFill>
            <a:srgbClr val="FFF5F5"/>
          </a:solidFill>
          <a:ln w="12700">
            <a:solidFill>
              <a:srgbClr val="FCA5A5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57200" y="2670048"/>
            <a:ext cx="402336" cy="40233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57200" y="2670048"/>
            <a:ext cx="402336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960120" y="2697480"/>
            <a:ext cx="33832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 kills diversity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502920" y="3081528"/>
            <a:ext cx="384048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 scoring works because the ensemble covers many different views. Optimising all representations toward the same objective causes convergence — the ensemble collapses into a single view, destroying the benefit of ensembling entirely.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754880" y="118872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random works instead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754880" y="1554480"/>
            <a:ext cx="4023360" cy="914400"/>
          </a:xfrm>
          <a:prstGeom prst="rect">
            <a:avLst/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754880" y="1554480"/>
            <a:ext cx="64008" cy="9144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919472" y="162763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45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Diverse projections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919472" y="1938528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random weights fold the data space differently — no two networks produce the same view.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754880" y="2578608"/>
            <a:ext cx="4023360" cy="914400"/>
          </a:xfrm>
          <a:prstGeom prst="rect">
            <a:avLst/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4754880" y="2578608"/>
            <a:ext cx="64008" cy="9144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919472" y="265176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45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Non-linear activations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4919472" y="2962656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ReLU, Tanh etc. bend space even without training — creating genuinely non-linear transformation surfaces.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754880" y="3602736"/>
            <a:ext cx="4023360" cy="914400"/>
          </a:xfrm>
          <a:prstGeom prst="rect">
            <a:avLst/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4754880" y="3602736"/>
            <a:ext cx="64008" cy="9144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919472" y="3675888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45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Exposure through ensemble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4919472" y="3986784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anomalies inseparable in original space are isolated in at least some projected spaces; averaging surfaces them.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1280160"/>
            <a:ext cx="8503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kern="0" spc="400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REVIEW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20040" y="1691640"/>
            <a:ext cx="8503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Optimised Deep Isolation Forest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320040" y="2487168"/>
            <a:ext cx="8503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dirty="0">
                <a:solidFill>
                  <a:srgbClr val="14B8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ODIF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320040" y="3931920"/>
            <a:ext cx="4754880" cy="502920"/>
          </a:xfrm>
          <a:prstGeom prst="rect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3995928"/>
            <a:ext cx="4480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logic · DEAS scoring · CERE — all unchanged. Only the training phase is restructured.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 with DIF’s Training Phase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4114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DIF does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4114800" cy="25603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66928" y="1362456"/>
            <a:ext cx="347472" cy="347472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66928" y="1362456"/>
            <a:ext cx="347472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24128" y="1371600"/>
            <a:ext cx="3429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 all N samples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24128" y="1604358"/>
            <a:ext cx="3429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dataset passes through CERE into r representations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66928" y="2112264"/>
            <a:ext cx="347472" cy="347472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66928" y="2112264"/>
            <a:ext cx="347472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024128" y="2121408"/>
            <a:ext cx="3429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all representations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24128" y="2368020"/>
            <a:ext cx="3429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O(Nrb) memory consumed before any trees are built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" y="2862072"/>
            <a:ext cx="347472" cy="347472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66928" y="2862072"/>
            <a:ext cx="347472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024128" y="2871216"/>
            <a:ext cx="3429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Subsample at tree time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024128" y="3145536"/>
            <a:ext cx="3429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of r×t trees draws n samples from the already-stored data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3858768"/>
            <a:ext cx="4114800" cy="594360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94360" y="3931920"/>
            <a:ext cx="3840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Each tree uses only n = 256 samples. The other N − n transforms are computed and stored for nothing.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846320" y="868680"/>
            <a:ext cx="3886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waste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846320" y="1234440"/>
            <a:ext cx="3886200" cy="6858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983480" y="129844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training samples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223760" y="12801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4983480" y="1618488"/>
            <a:ext cx="3611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(e.g. 100,000)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846320" y="2039112"/>
            <a:ext cx="3886200" cy="6858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983480" y="21031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Samples used per tree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223760" y="2084832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4983480" y="2423160"/>
            <a:ext cx="3611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(default: 256)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846320" y="2843784"/>
            <a:ext cx="3886200" cy="6858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4983480" y="2907792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samples needed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7223760" y="2889504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 × n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4983480" y="3227832"/>
            <a:ext cx="3611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(e.g. 100 × 256 = 25,600)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846320" y="3648456"/>
            <a:ext cx="3886200" cy="685800"/>
          </a:xfrm>
          <a:prstGeom prst="rect">
            <a:avLst/>
          </a:prstGeom>
          <a:solidFill>
            <a:srgbClr val="FFF5F5"/>
          </a:solidFill>
          <a:ln w="12700">
            <a:solidFill>
              <a:srgbClr val="FCA5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4983480" y="3712464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Wasted transformations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7223760" y="3694176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 − tn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4983480" y="4032504"/>
            <a:ext cx="3611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~74,400 in this example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ODIF — Sample First, Transform Second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92331" y="1443921"/>
            <a:ext cx="2057400" cy="24231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92331" y="1443921"/>
            <a:ext cx="205740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950699" y="1562793"/>
            <a:ext cx="731520" cy="73152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950699" y="1562793"/>
            <a:ext cx="7315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383771" y="2385753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Pre-sample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83771" y="2751513"/>
            <a:ext cx="18745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Subsample trees’ training dataset upfront</a:t>
            </a:r>
            <a:endParaRPr lang="en-US" sz="1100" dirty="0"/>
          </a:p>
          <a:p>
            <a:pPr algn="ctr"/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 × n total indexes selected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368019" y="2385753"/>
            <a:ext cx="10972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2468603" y="1443921"/>
            <a:ext cx="2057400" cy="24231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2468603" y="1443921"/>
            <a:ext cx="205740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126971" y="1562793"/>
            <a:ext cx="731520" cy="73152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126971" y="1562793"/>
            <a:ext cx="7315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560043" y="2385753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duplicates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560043" y="2751513"/>
            <a:ext cx="18745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unique indices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sample transformed at most once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44291" y="2385753"/>
            <a:ext cx="10972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644875" y="1443921"/>
            <a:ext cx="2057400" cy="24231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4644875" y="1443921"/>
            <a:ext cx="205740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5303243" y="1562793"/>
            <a:ext cx="731520" cy="73152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303243" y="1562793"/>
            <a:ext cx="7315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4736315" y="2385753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736315" y="2751513"/>
            <a:ext cx="18745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CERE to reduced subset only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to the full N dataset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720563" y="2385753"/>
            <a:ext cx="10972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821147" y="1443921"/>
            <a:ext cx="2057400" cy="24231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6821147" y="1443921"/>
            <a:ext cx="205740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7479515" y="1562793"/>
            <a:ext cx="731520" cy="73152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7479515" y="1562793"/>
            <a:ext cx="7315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6912587" y="2385753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Trees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912587" y="2751513"/>
            <a:ext cx="18745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 pre-sampled data to each tree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re-sampling at construction time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1188720"/>
            <a:ext cx="8503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kern="0" spc="400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REVIEW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20040" y="1600200"/>
            <a:ext cx="8503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ODIF Applied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320040" y="2331720"/>
            <a:ext cx="8503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4B8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Anomaly Detection on NPDCL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320040" y="2834640"/>
            <a:ext cx="8503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dirty="0">
                <a:solidFill>
                  <a:srgbClr val="99F6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Electricity Consumption Data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20040" y="3429000"/>
            <a:ext cx="6400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Northern Power Distribution Company of Telangana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0040" y="3977640"/>
            <a:ext cx="8458200" cy="566928"/>
          </a:xfrm>
          <a:prstGeom prst="rect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57200" y="4050792"/>
            <a:ext cx="8183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identify meter tampering, illegal connections, and faulty equipment via unsupervised anomaly scoring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Dataset — NPDCL Electricity Consumption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822960"/>
            <a:ext cx="1691640" cy="36576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29768" y="841248"/>
            <a:ext cx="162763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 Group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148840" y="822960"/>
            <a:ext cx="3337560" cy="36576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2212848" y="841248"/>
            <a:ext cx="327355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577840" y="822960"/>
            <a:ext cx="3246120" cy="36576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641848" y="841248"/>
            <a:ext cx="31821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65760" y="1234440"/>
            <a:ext cx="1691640" cy="69494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29768" y="1280160"/>
            <a:ext cx="160934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Geographic mapping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148840" y="1234440"/>
            <a:ext cx="3337560" cy="69494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2212848" y="1280160"/>
            <a:ext cx="325526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Circle, Division, SubDivision,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Section, Area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577840" y="1234440"/>
            <a:ext cx="3246120" cy="69494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641848" y="1280160"/>
            <a:ext cx="316382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levels of location — high mutual association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65760" y="1984248"/>
            <a:ext cx="1691640" cy="6949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29768" y="2029968"/>
            <a:ext cx="160934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Billing metrics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148840" y="1984248"/>
            <a:ext cx="3337560" cy="6949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2212848" y="2029968"/>
            <a:ext cx="325526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TotServices, BilledServices,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Units, Load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577840" y="1984248"/>
            <a:ext cx="3246120" cy="6949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641848" y="2029968"/>
            <a:ext cx="316382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signal columns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2734056"/>
            <a:ext cx="1691640" cy="69494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29768" y="2779776"/>
            <a:ext cx="160934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Time-based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148840" y="2734056"/>
            <a:ext cx="3337560" cy="69494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2212848" y="2779776"/>
            <a:ext cx="325526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year, month, month_name,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timestamp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577840" y="2734056"/>
            <a:ext cx="3246120" cy="69494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641848" y="2779776"/>
            <a:ext cx="316382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Redundant encodings — collapsed to time_index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65760" y="3483864"/>
            <a:ext cx="1691640" cy="6949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29768" y="3529584"/>
            <a:ext cx="160934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Identifiers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2148840" y="3483864"/>
            <a:ext cx="3337560" cy="6949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2212848" y="3529584"/>
            <a:ext cx="325526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CatCode, CatDesc, resource_id,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resource_title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577840" y="3483864"/>
            <a:ext cx="3246120" cy="6949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5641848" y="3529584"/>
            <a:ext cx="316382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variance / pure ID columns — dropped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365760" y="4325112"/>
            <a:ext cx="8412480" cy="566928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502920" y="4398264"/>
            <a:ext cx="81381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 2019 used as representative EDA sample. Extended to 3 sampled files (Jan 2019, May 2022, Dec 2025) before committing to the full dataset.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Exploratory Data Analysis — Three Key Findings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841248"/>
            <a:ext cx="8412480" cy="1261872"/>
          </a:xfrm>
          <a:prstGeom prst="rect">
            <a:avLst/>
          </a:prstGeom>
          <a:solidFill>
            <a:srgbClr val="FFF5F5"/>
          </a:solidFill>
          <a:ln w="12700">
            <a:solidFill>
              <a:srgbClr val="FCA5A5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65760" y="841248"/>
            <a:ext cx="73152" cy="126187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12064" y="914400"/>
            <a:ext cx="384048" cy="384048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12064" y="914400"/>
            <a:ext cx="384048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05840" y="932688"/>
            <a:ext cx="4389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Zero-Variance Columns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1261872"/>
            <a:ext cx="763524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CatCode (always 7), year, month, CatDesc, month_name, timestamp, resource_id, resource_title showed zero variance within and across all sampled files.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discriminating signal — flagged for immediate removal.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" y="2194560"/>
            <a:ext cx="8412480" cy="1261872"/>
          </a:xfrm>
          <a:prstGeom prst="rect">
            <a:avLst/>
          </a:prstGeom>
          <a:solidFill>
            <a:srgbClr val="FFFBF0"/>
          </a:solidFill>
          <a:ln w="12700">
            <a:solidFill>
              <a:srgbClr val="FCD34D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65760" y="2194560"/>
            <a:ext cx="73152" cy="126187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512064" y="2267712"/>
            <a:ext cx="384048" cy="384048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12064" y="2267712"/>
            <a:ext cx="384048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005840" y="2286000"/>
            <a:ext cx="4389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Pearson Correlation  |r| &gt; 0.85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005840" y="2615184"/>
            <a:ext cx="762609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TotServices ↔ BilledServices: highly correlated — feature engineering.</a:t>
            </a:r>
            <a:endParaRPr lang="en-US" sz="1100" dirty="0"/>
          </a:p>
          <a:p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 ↔ Load: highly correlated — feature engineering.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VIF analysis confirmed severe multicollinearity across all flagged columns.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65760" y="3547872"/>
            <a:ext cx="8412480" cy="1261872"/>
          </a:xfrm>
          <a:prstGeom prst="rect">
            <a:avLst/>
          </a:prstGeom>
          <a:solidFill>
            <a:srgbClr val="F0FDFA"/>
          </a:solidFill>
          <a:ln w="12700">
            <a:solidFill>
              <a:srgbClr val="99F6E4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365760" y="3547872"/>
            <a:ext cx="73152" cy="126187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512064" y="3621024"/>
            <a:ext cx="384048" cy="38404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12064" y="3621024"/>
            <a:ext cx="384048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005840" y="3602736"/>
            <a:ext cx="4389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Cramér’s V — Geographic Columns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005840" y="3922776"/>
            <a:ext cx="763524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Circle, Division, SubDivision, Section, Area showed strong mutual association.</a:t>
            </a:r>
            <a:endParaRPr lang="en-US" sz="1100" dirty="0"/>
          </a:p>
          <a:p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Highly correlated — feature engineering — encoded into 1 composite location-frequency feature.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025A92B-A61F-29E5-9666-CE632C20E8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16F5E208-D206-5F60-AAF8-0A2E7275E5DE}"/>
              </a:ext>
            </a:extLst>
          </p:cNvPr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52B4E538-403C-82EA-EC87-4A8B33DE2E0E}"/>
              </a:ext>
            </a:extLst>
          </p:cNvPr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Exploratory Data Analysis — Three Key Findings</a:t>
            </a:r>
            <a:endParaRPr lang="en-US" sz="260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30694FC-4CF0-1463-A03E-ED113547BE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5114" y="2700660"/>
            <a:ext cx="3122266" cy="23465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8E6B3DE9-AA59-2504-90B3-4D47F16BCF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99486" y="2745442"/>
            <a:ext cx="3094650" cy="23018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1D6BA0EA-06BF-4530-65F7-82418EB565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92699" y="734238"/>
            <a:ext cx="2694101" cy="19243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26DEFAC6-E8C2-F16F-A6A1-310BE8E4E2B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434" y="826261"/>
            <a:ext cx="5165558" cy="17454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209328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 Engineering — 4 Constructed Features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65333" y="833434"/>
            <a:ext cx="4251960" cy="2058261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65333" y="833435"/>
            <a:ext cx="425196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02493" y="924875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time_index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02493" y="1555420"/>
            <a:ext cx="3950208" cy="418201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pPr>
              <a:lnSpc>
                <a:spcPts val="1425"/>
              </a:lnSpc>
              <a:buNone/>
            </a:pPr>
            <a:r>
              <a:rPr lang="en-SG" sz="1200" b="0" dirty="0" err="1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df</a:t>
            </a:r>
            <a:r>
              <a:rPr lang="en-SG" sz="1200" b="0" dirty="0">
                <a:solidFill>
                  <a:srgbClr val="DCDCDC"/>
                </a:solidFill>
                <a:effectLst/>
                <a:latin typeface="Courier New" panose="02070309020205020404" pitchFamily="49" charset="0"/>
              </a:rPr>
              <a:t>[</a:t>
            </a:r>
            <a:r>
              <a:rPr lang="en-SG" sz="1200" b="0" dirty="0">
                <a:solidFill>
                  <a:srgbClr val="CE9178"/>
                </a:solidFill>
                <a:effectLst/>
                <a:latin typeface="Courier New" panose="02070309020205020404" pitchFamily="49" charset="0"/>
              </a:rPr>
              <a:t>"</a:t>
            </a:r>
            <a:r>
              <a:rPr lang="en-SG" sz="1200" b="0" dirty="0" err="1">
                <a:solidFill>
                  <a:srgbClr val="CE9178"/>
                </a:solidFill>
                <a:effectLst/>
                <a:latin typeface="Courier New" panose="02070309020205020404" pitchFamily="49" charset="0"/>
              </a:rPr>
              <a:t>time_index</a:t>
            </a:r>
            <a:r>
              <a:rPr lang="en-SG" sz="1200" b="0" dirty="0">
                <a:solidFill>
                  <a:srgbClr val="CE9178"/>
                </a:solidFill>
                <a:effectLst/>
                <a:latin typeface="Courier New" panose="02070309020205020404" pitchFamily="49" charset="0"/>
              </a:rPr>
              <a:t>"</a:t>
            </a:r>
            <a:r>
              <a:rPr lang="en-SG" sz="1200" b="0" dirty="0">
                <a:solidFill>
                  <a:srgbClr val="DCDCDC"/>
                </a:solidFill>
                <a:effectLst/>
                <a:latin typeface="Courier New" panose="02070309020205020404" pitchFamily="49" charset="0"/>
              </a:rPr>
              <a:t>]</a:t>
            </a:r>
            <a:r>
              <a:rPr lang="en-SG" sz="1200" b="0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 = </a:t>
            </a:r>
            <a:r>
              <a:rPr lang="en-SG" sz="1200" b="0" dirty="0">
                <a:solidFill>
                  <a:srgbClr val="DCDCDC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SG" sz="1200" b="0" dirty="0" err="1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df</a:t>
            </a:r>
            <a:r>
              <a:rPr lang="en-SG" sz="1200" b="0" dirty="0">
                <a:solidFill>
                  <a:srgbClr val="DCDCDC"/>
                </a:solidFill>
                <a:effectLst/>
                <a:latin typeface="Courier New" panose="02070309020205020404" pitchFamily="49" charset="0"/>
              </a:rPr>
              <a:t>[</a:t>
            </a:r>
            <a:r>
              <a:rPr lang="en-SG" sz="1200" b="0" dirty="0">
                <a:solidFill>
                  <a:srgbClr val="CE9178"/>
                </a:solidFill>
                <a:effectLst/>
                <a:latin typeface="Courier New" panose="02070309020205020404" pitchFamily="49" charset="0"/>
              </a:rPr>
              <a:t>"year"</a:t>
            </a:r>
            <a:r>
              <a:rPr lang="en-SG" sz="1200" b="0" dirty="0">
                <a:solidFill>
                  <a:srgbClr val="DCDCDC"/>
                </a:solidFill>
                <a:effectLst/>
                <a:latin typeface="Courier New" panose="02070309020205020404" pitchFamily="49" charset="0"/>
              </a:rPr>
              <a:t>]</a:t>
            </a:r>
            <a:r>
              <a:rPr lang="en-SG" sz="1200" b="0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 - </a:t>
            </a:r>
            <a:r>
              <a:rPr lang="en-SG" sz="1200" b="0" dirty="0" err="1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df</a:t>
            </a:r>
            <a:r>
              <a:rPr lang="en-SG" sz="1200" b="0" dirty="0">
                <a:solidFill>
                  <a:srgbClr val="DCDCDC"/>
                </a:solidFill>
                <a:effectLst/>
                <a:latin typeface="Courier New" panose="02070309020205020404" pitchFamily="49" charset="0"/>
              </a:rPr>
              <a:t>[</a:t>
            </a:r>
            <a:r>
              <a:rPr lang="en-SG" sz="1200" b="0" dirty="0">
                <a:solidFill>
                  <a:srgbClr val="CE9178"/>
                </a:solidFill>
                <a:effectLst/>
                <a:latin typeface="Courier New" panose="02070309020205020404" pitchFamily="49" charset="0"/>
              </a:rPr>
              <a:t>"year"</a:t>
            </a:r>
            <a:r>
              <a:rPr lang="en-SG" sz="1200" b="0" dirty="0">
                <a:solidFill>
                  <a:srgbClr val="DCDCDC"/>
                </a:solidFill>
                <a:effectLst/>
                <a:latin typeface="Courier New" panose="02070309020205020404" pitchFamily="49" charset="0"/>
              </a:rPr>
              <a:t>]</a:t>
            </a:r>
            <a:r>
              <a:rPr lang="en-SG" sz="1200" b="0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.</a:t>
            </a:r>
            <a:r>
              <a:rPr lang="en-SG" sz="1200" b="0" dirty="0">
                <a:solidFill>
                  <a:srgbClr val="DCDCAA"/>
                </a:solidFill>
                <a:effectLst/>
                <a:latin typeface="Courier New" panose="02070309020205020404" pitchFamily="49" charset="0"/>
              </a:rPr>
              <a:t>min</a:t>
            </a:r>
            <a:r>
              <a:rPr lang="en-SG" sz="1200" b="0" dirty="0">
                <a:solidFill>
                  <a:srgbClr val="DCDCDC"/>
                </a:solidFill>
                <a:effectLst/>
                <a:latin typeface="Courier New" panose="02070309020205020404" pitchFamily="49" charset="0"/>
              </a:rPr>
              <a:t>())</a:t>
            </a:r>
            <a:r>
              <a:rPr lang="en-SG" sz="1200" b="0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 * </a:t>
            </a:r>
            <a:r>
              <a:rPr lang="en-SG" sz="1200" b="0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12</a:t>
            </a:r>
            <a:r>
              <a:rPr lang="en-SG" sz="1200" b="0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 + </a:t>
            </a:r>
            <a:r>
              <a:rPr lang="en-SG" sz="1200" b="0" dirty="0" err="1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df</a:t>
            </a:r>
            <a:r>
              <a:rPr lang="en-SG" sz="1200" b="0" dirty="0">
                <a:solidFill>
                  <a:srgbClr val="DCDCDC"/>
                </a:solidFill>
                <a:effectLst/>
                <a:latin typeface="Courier New" panose="02070309020205020404" pitchFamily="49" charset="0"/>
              </a:rPr>
              <a:t>[</a:t>
            </a:r>
            <a:r>
              <a:rPr lang="en-SG" sz="1200" b="0" dirty="0">
                <a:solidFill>
                  <a:srgbClr val="CE9178"/>
                </a:solidFill>
                <a:effectLst/>
                <a:latin typeface="Courier New" panose="02070309020205020404" pitchFamily="49" charset="0"/>
              </a:rPr>
              <a:t>"month"</a:t>
            </a:r>
            <a:r>
              <a:rPr lang="en-SG" sz="1200" b="0" dirty="0">
                <a:solidFill>
                  <a:srgbClr val="DCDCDC"/>
                </a:solidFill>
                <a:effectLst/>
                <a:latin typeface="Courier New" panose="02070309020205020404" pitchFamily="49" charset="0"/>
              </a:rPr>
              <a:t>]</a:t>
            </a:r>
            <a:endParaRPr lang="en-SG" sz="1200" b="0" dirty="0">
              <a:solidFill>
                <a:srgbClr val="D4D4D4"/>
              </a:solidFill>
              <a:effectLst/>
              <a:latin typeface="Courier New" panose="02070309020205020404" pitchFamily="49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402493" y="2146224"/>
            <a:ext cx="3950208" cy="41820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Collapses year/month into a single signal.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700173" y="833435"/>
            <a:ext cx="4251960" cy="20582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700173" y="833435"/>
            <a:ext cx="425196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837333" y="924875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billing_rate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242205" y="943163"/>
            <a:ext cx="1554480" cy="274320"/>
          </a:xfrm>
          <a:prstGeom prst="rect">
            <a:avLst/>
          </a:prstGeom>
          <a:solidFill>
            <a:srgbClr val="FEE2E2"/>
          </a:solidFill>
          <a:ln w="10160">
            <a:solidFill>
              <a:srgbClr val="991B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7251349" y="952307"/>
            <a:ext cx="153619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Theft signal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837333" y="1528379"/>
            <a:ext cx="3950208" cy="493776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901341" y="1528379"/>
            <a:ext cx="382219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ts val="1425"/>
              </a:lnSpc>
              <a:buNone/>
            </a:pPr>
            <a:r>
              <a:rPr lang="en-SG" sz="1150" b="0" dirty="0" err="1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df</a:t>
            </a:r>
            <a:r>
              <a:rPr lang="en-SG" sz="1150" b="0" dirty="0">
                <a:solidFill>
                  <a:srgbClr val="DCDCDC"/>
                </a:solidFill>
                <a:effectLst/>
                <a:latin typeface="Courier New" panose="02070309020205020404" pitchFamily="49" charset="0"/>
              </a:rPr>
              <a:t>[</a:t>
            </a:r>
            <a:r>
              <a:rPr lang="en-SG" sz="1150" b="0" dirty="0">
                <a:solidFill>
                  <a:srgbClr val="CE9178"/>
                </a:solidFill>
                <a:effectLst/>
                <a:latin typeface="Courier New" panose="02070309020205020404" pitchFamily="49" charset="0"/>
              </a:rPr>
              <a:t>"</a:t>
            </a:r>
            <a:r>
              <a:rPr lang="en-SG" sz="1150" b="0" dirty="0" err="1">
                <a:solidFill>
                  <a:srgbClr val="CE9178"/>
                </a:solidFill>
                <a:effectLst/>
                <a:latin typeface="Courier New" panose="02070309020205020404" pitchFamily="49" charset="0"/>
              </a:rPr>
              <a:t>billing_rate</a:t>
            </a:r>
            <a:r>
              <a:rPr lang="en-SG" sz="1150" b="0" dirty="0">
                <a:solidFill>
                  <a:srgbClr val="CE9178"/>
                </a:solidFill>
                <a:effectLst/>
                <a:latin typeface="Courier New" panose="02070309020205020404" pitchFamily="49" charset="0"/>
              </a:rPr>
              <a:t>"</a:t>
            </a:r>
            <a:r>
              <a:rPr lang="en-SG" sz="1150" b="0" dirty="0">
                <a:solidFill>
                  <a:srgbClr val="DCDCDC"/>
                </a:solidFill>
                <a:effectLst/>
                <a:latin typeface="Courier New" panose="02070309020205020404" pitchFamily="49" charset="0"/>
              </a:rPr>
              <a:t>]</a:t>
            </a:r>
            <a:r>
              <a:rPr lang="en-SG" sz="1150" b="0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 = </a:t>
            </a:r>
          </a:p>
          <a:p>
            <a:pPr>
              <a:lnSpc>
                <a:spcPts val="1425"/>
              </a:lnSpc>
              <a:buNone/>
            </a:pPr>
            <a:r>
              <a:rPr lang="en-SG" sz="1150" b="0" dirty="0" err="1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df</a:t>
            </a:r>
            <a:r>
              <a:rPr lang="en-SG" sz="1150" b="0" dirty="0">
                <a:solidFill>
                  <a:srgbClr val="DCDCDC"/>
                </a:solidFill>
                <a:effectLst/>
                <a:latin typeface="Courier New" panose="02070309020205020404" pitchFamily="49" charset="0"/>
              </a:rPr>
              <a:t>[</a:t>
            </a:r>
            <a:r>
              <a:rPr lang="en-SG" sz="1150" b="0" dirty="0">
                <a:solidFill>
                  <a:srgbClr val="CE9178"/>
                </a:solidFill>
                <a:effectLst/>
                <a:latin typeface="Courier New" panose="02070309020205020404" pitchFamily="49" charset="0"/>
              </a:rPr>
              <a:t>"</a:t>
            </a:r>
            <a:r>
              <a:rPr lang="en-SG" sz="1150" b="0" dirty="0" err="1">
                <a:solidFill>
                  <a:srgbClr val="CE9178"/>
                </a:solidFill>
                <a:effectLst/>
                <a:latin typeface="Courier New" panose="02070309020205020404" pitchFamily="49" charset="0"/>
              </a:rPr>
              <a:t>BilledServices</a:t>
            </a:r>
            <a:r>
              <a:rPr lang="en-SG" sz="1150" b="0" dirty="0">
                <a:solidFill>
                  <a:srgbClr val="CE9178"/>
                </a:solidFill>
                <a:effectLst/>
                <a:latin typeface="Courier New" panose="02070309020205020404" pitchFamily="49" charset="0"/>
              </a:rPr>
              <a:t>"</a:t>
            </a:r>
            <a:r>
              <a:rPr lang="en-SG" sz="1150" b="0" dirty="0">
                <a:solidFill>
                  <a:srgbClr val="DCDCDC"/>
                </a:solidFill>
                <a:effectLst/>
                <a:latin typeface="Courier New" panose="02070309020205020404" pitchFamily="49" charset="0"/>
              </a:rPr>
              <a:t>]</a:t>
            </a:r>
            <a:r>
              <a:rPr lang="en-SG" sz="1150" b="0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 / </a:t>
            </a:r>
            <a:r>
              <a:rPr lang="en-SG" sz="1150" b="0" dirty="0" err="1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df</a:t>
            </a:r>
            <a:r>
              <a:rPr lang="en-SG" sz="1150" b="0" dirty="0">
                <a:solidFill>
                  <a:srgbClr val="DCDCDC"/>
                </a:solidFill>
                <a:effectLst/>
                <a:latin typeface="Courier New" panose="02070309020205020404" pitchFamily="49" charset="0"/>
              </a:rPr>
              <a:t>[</a:t>
            </a:r>
            <a:r>
              <a:rPr lang="en-SG" sz="1150" b="0" dirty="0">
                <a:solidFill>
                  <a:srgbClr val="CE9178"/>
                </a:solidFill>
                <a:effectLst/>
                <a:latin typeface="Courier New" panose="02070309020205020404" pitchFamily="49" charset="0"/>
              </a:rPr>
              <a:t>"</a:t>
            </a:r>
            <a:r>
              <a:rPr lang="en-SG" sz="1150" b="0" dirty="0" err="1">
                <a:solidFill>
                  <a:srgbClr val="CE9178"/>
                </a:solidFill>
                <a:effectLst/>
                <a:latin typeface="Courier New" panose="02070309020205020404" pitchFamily="49" charset="0"/>
              </a:rPr>
              <a:t>TotServices</a:t>
            </a:r>
            <a:r>
              <a:rPr lang="en-SG" sz="1150" b="0" dirty="0">
                <a:solidFill>
                  <a:srgbClr val="CE9178"/>
                </a:solidFill>
                <a:effectLst/>
                <a:latin typeface="Courier New" panose="02070309020205020404" pitchFamily="49" charset="0"/>
              </a:rPr>
              <a:t>"</a:t>
            </a:r>
            <a:r>
              <a:rPr lang="en-SG" sz="1150" b="0" dirty="0">
                <a:solidFill>
                  <a:srgbClr val="DCDCDC"/>
                </a:solidFill>
                <a:effectLst/>
                <a:latin typeface="Courier New" panose="02070309020205020404" pitchFamily="49" charset="0"/>
              </a:rPr>
              <a:t>]</a:t>
            </a:r>
            <a:endParaRPr lang="en-SG" sz="1150" b="0" dirty="0">
              <a:solidFill>
                <a:srgbClr val="D4D4D4"/>
              </a:solidFill>
              <a:effectLst/>
              <a:latin typeface="Courier New" panose="02070309020205020404" pitchFamily="49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4837333" y="2138369"/>
            <a:ext cx="3950208" cy="5777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Proportion of services actually billed. 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to 0 → consumption without billing — direct theft signal. Encodes the billing anomaly explicitly.</a:t>
            </a:r>
            <a:endParaRPr lang="en-US" sz="1100" dirty="0"/>
          </a:p>
        </p:txBody>
      </p:sp>
      <p:sp>
        <p:nvSpPr>
          <p:cNvPr id="40" name="Shape 10">
            <a:extLst>
              <a:ext uri="{FF2B5EF4-FFF2-40B4-BE49-F238E27FC236}">
                <a16:creationId xmlns:a16="http://schemas.microsoft.com/office/drawing/2014/main" id="{EE2A52B9-59AF-F69E-0E1A-0C8D5AEECFD1}"/>
              </a:ext>
            </a:extLst>
          </p:cNvPr>
          <p:cNvSpPr/>
          <p:nvPr/>
        </p:nvSpPr>
        <p:spPr>
          <a:xfrm>
            <a:off x="265333" y="3040853"/>
            <a:ext cx="4251960" cy="200007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1" name="Shape 11">
            <a:extLst>
              <a:ext uri="{FF2B5EF4-FFF2-40B4-BE49-F238E27FC236}">
                <a16:creationId xmlns:a16="http://schemas.microsoft.com/office/drawing/2014/main" id="{E446F07F-7FB8-2D52-2A1B-4736FBD346D1}"/>
              </a:ext>
            </a:extLst>
          </p:cNvPr>
          <p:cNvSpPr/>
          <p:nvPr/>
        </p:nvSpPr>
        <p:spPr>
          <a:xfrm>
            <a:off x="265333" y="3040853"/>
            <a:ext cx="425196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12">
            <a:extLst>
              <a:ext uri="{FF2B5EF4-FFF2-40B4-BE49-F238E27FC236}">
                <a16:creationId xmlns:a16="http://schemas.microsoft.com/office/drawing/2014/main" id="{25C7F09D-590A-64EF-4858-989F445504A0}"/>
              </a:ext>
            </a:extLst>
          </p:cNvPr>
          <p:cNvSpPr/>
          <p:nvPr/>
        </p:nvSpPr>
        <p:spPr>
          <a:xfrm>
            <a:off x="402493" y="3132293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areas</a:t>
            </a:r>
            <a:endParaRPr lang="en-US" sz="1400" dirty="0"/>
          </a:p>
        </p:txBody>
      </p:sp>
      <p:sp>
        <p:nvSpPr>
          <p:cNvPr id="43" name="Shape 15">
            <a:extLst>
              <a:ext uri="{FF2B5EF4-FFF2-40B4-BE49-F238E27FC236}">
                <a16:creationId xmlns:a16="http://schemas.microsoft.com/office/drawing/2014/main" id="{6FA929CD-1B2D-BF41-8BE6-F9836A0144B4}"/>
              </a:ext>
            </a:extLst>
          </p:cNvPr>
          <p:cNvSpPr/>
          <p:nvPr/>
        </p:nvSpPr>
        <p:spPr>
          <a:xfrm>
            <a:off x="402493" y="3735797"/>
            <a:ext cx="3950208" cy="493776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16">
            <a:extLst>
              <a:ext uri="{FF2B5EF4-FFF2-40B4-BE49-F238E27FC236}">
                <a16:creationId xmlns:a16="http://schemas.microsoft.com/office/drawing/2014/main" id="{1EE08C64-9A58-D68B-A382-16F26B0B4886}"/>
              </a:ext>
            </a:extLst>
          </p:cNvPr>
          <p:cNvSpPr/>
          <p:nvPr/>
        </p:nvSpPr>
        <p:spPr>
          <a:xfrm>
            <a:off x="466501" y="3735797"/>
            <a:ext cx="382219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ts val="1425"/>
              </a:lnSpc>
              <a:buNone/>
            </a:pPr>
            <a:r>
              <a:rPr lang="en-SG" sz="1150" b="0" dirty="0" err="1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df</a:t>
            </a:r>
            <a:r>
              <a:rPr lang="en-SG" sz="1150" b="0" dirty="0">
                <a:solidFill>
                  <a:srgbClr val="DCDCDC"/>
                </a:solidFill>
                <a:effectLst/>
                <a:latin typeface="Courier New" panose="02070309020205020404" pitchFamily="49" charset="0"/>
              </a:rPr>
              <a:t>[</a:t>
            </a:r>
            <a:r>
              <a:rPr lang="en-SG" sz="1150" b="0" dirty="0">
                <a:solidFill>
                  <a:srgbClr val="CE9178"/>
                </a:solidFill>
                <a:effectLst/>
                <a:latin typeface="Courier New" panose="02070309020205020404" pitchFamily="49" charset="0"/>
              </a:rPr>
              <a:t>"</a:t>
            </a:r>
            <a:r>
              <a:rPr lang="en-SG" sz="1150" b="0" dirty="0" err="1">
                <a:solidFill>
                  <a:srgbClr val="CE9178"/>
                </a:solidFill>
                <a:effectLst/>
                <a:latin typeface="Courier New" panose="02070309020205020404" pitchFamily="49" charset="0"/>
              </a:rPr>
              <a:t>billing_rate</a:t>
            </a:r>
            <a:r>
              <a:rPr lang="en-SG" sz="1150" b="0" dirty="0">
                <a:solidFill>
                  <a:srgbClr val="CE9178"/>
                </a:solidFill>
                <a:effectLst/>
                <a:latin typeface="Courier New" panose="02070309020205020404" pitchFamily="49" charset="0"/>
              </a:rPr>
              <a:t>"</a:t>
            </a:r>
            <a:r>
              <a:rPr lang="en-SG" sz="1150" b="0" dirty="0">
                <a:solidFill>
                  <a:srgbClr val="DCDCDC"/>
                </a:solidFill>
                <a:effectLst/>
                <a:latin typeface="Courier New" panose="02070309020205020404" pitchFamily="49" charset="0"/>
              </a:rPr>
              <a:t>]</a:t>
            </a:r>
            <a:r>
              <a:rPr lang="en-SG" sz="1150" b="0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 = </a:t>
            </a:r>
          </a:p>
          <a:p>
            <a:pPr>
              <a:lnSpc>
                <a:spcPts val="1425"/>
              </a:lnSpc>
              <a:buNone/>
            </a:pPr>
            <a:r>
              <a:rPr lang="en-SG" sz="1150" b="0" dirty="0" err="1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df</a:t>
            </a:r>
            <a:r>
              <a:rPr lang="en-SG" sz="1150" b="0" dirty="0">
                <a:solidFill>
                  <a:srgbClr val="DCDCDC"/>
                </a:solidFill>
                <a:effectLst/>
                <a:latin typeface="Courier New" panose="02070309020205020404" pitchFamily="49" charset="0"/>
              </a:rPr>
              <a:t>[</a:t>
            </a:r>
            <a:r>
              <a:rPr lang="en-SG" sz="1150" b="0" dirty="0">
                <a:solidFill>
                  <a:srgbClr val="CE9178"/>
                </a:solidFill>
                <a:effectLst/>
                <a:latin typeface="Courier New" panose="02070309020205020404" pitchFamily="49" charset="0"/>
              </a:rPr>
              <a:t>"</a:t>
            </a:r>
            <a:r>
              <a:rPr lang="en-SG" sz="1150" b="0" dirty="0" err="1">
                <a:solidFill>
                  <a:srgbClr val="CE9178"/>
                </a:solidFill>
                <a:effectLst/>
                <a:latin typeface="Courier New" panose="02070309020205020404" pitchFamily="49" charset="0"/>
              </a:rPr>
              <a:t>BilledServices</a:t>
            </a:r>
            <a:r>
              <a:rPr lang="en-SG" sz="1150" b="0" dirty="0">
                <a:solidFill>
                  <a:srgbClr val="CE9178"/>
                </a:solidFill>
                <a:effectLst/>
                <a:latin typeface="Courier New" panose="02070309020205020404" pitchFamily="49" charset="0"/>
              </a:rPr>
              <a:t>"</a:t>
            </a:r>
            <a:r>
              <a:rPr lang="en-SG" sz="1150" b="0" dirty="0">
                <a:solidFill>
                  <a:srgbClr val="DCDCDC"/>
                </a:solidFill>
                <a:effectLst/>
                <a:latin typeface="Courier New" panose="02070309020205020404" pitchFamily="49" charset="0"/>
              </a:rPr>
              <a:t>]</a:t>
            </a:r>
            <a:r>
              <a:rPr lang="en-SG" sz="1150" b="0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 / </a:t>
            </a:r>
            <a:r>
              <a:rPr lang="en-SG" sz="1150" b="0" dirty="0" err="1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df</a:t>
            </a:r>
            <a:r>
              <a:rPr lang="en-SG" sz="1150" b="0" dirty="0">
                <a:solidFill>
                  <a:srgbClr val="DCDCDC"/>
                </a:solidFill>
                <a:effectLst/>
                <a:latin typeface="Courier New" panose="02070309020205020404" pitchFamily="49" charset="0"/>
              </a:rPr>
              <a:t>[</a:t>
            </a:r>
            <a:r>
              <a:rPr lang="en-SG" sz="1150" b="0" dirty="0">
                <a:solidFill>
                  <a:srgbClr val="CE9178"/>
                </a:solidFill>
                <a:effectLst/>
                <a:latin typeface="Courier New" panose="02070309020205020404" pitchFamily="49" charset="0"/>
              </a:rPr>
              <a:t>"</a:t>
            </a:r>
            <a:r>
              <a:rPr lang="en-SG" sz="1150" b="0" dirty="0" err="1">
                <a:solidFill>
                  <a:srgbClr val="CE9178"/>
                </a:solidFill>
                <a:effectLst/>
                <a:latin typeface="Courier New" panose="02070309020205020404" pitchFamily="49" charset="0"/>
              </a:rPr>
              <a:t>TotServices</a:t>
            </a:r>
            <a:r>
              <a:rPr lang="en-SG" sz="1150" b="0" dirty="0">
                <a:solidFill>
                  <a:srgbClr val="CE9178"/>
                </a:solidFill>
                <a:effectLst/>
                <a:latin typeface="Courier New" panose="02070309020205020404" pitchFamily="49" charset="0"/>
              </a:rPr>
              <a:t>"</a:t>
            </a:r>
            <a:r>
              <a:rPr lang="en-SG" sz="1150" b="0" dirty="0">
                <a:solidFill>
                  <a:srgbClr val="DCDCDC"/>
                </a:solidFill>
                <a:effectLst/>
                <a:latin typeface="Courier New" panose="02070309020205020404" pitchFamily="49" charset="0"/>
              </a:rPr>
              <a:t>]</a:t>
            </a:r>
            <a:endParaRPr lang="en-SG" sz="1150" b="0" dirty="0">
              <a:solidFill>
                <a:srgbClr val="D4D4D4"/>
              </a:solidFill>
              <a:effectLst/>
              <a:latin typeface="Courier New" panose="02070309020205020404" pitchFamily="49" charset="0"/>
            </a:endParaRPr>
          </a:p>
        </p:txBody>
      </p:sp>
      <p:sp>
        <p:nvSpPr>
          <p:cNvPr id="45" name="Text 17">
            <a:extLst>
              <a:ext uri="{FF2B5EF4-FFF2-40B4-BE49-F238E27FC236}">
                <a16:creationId xmlns:a16="http://schemas.microsoft.com/office/drawing/2014/main" id="{579A2068-3706-96A2-D989-542E73C4911F}"/>
              </a:ext>
            </a:extLst>
          </p:cNvPr>
          <p:cNvSpPr/>
          <p:nvPr/>
        </p:nvSpPr>
        <p:spPr>
          <a:xfrm>
            <a:off x="383346" y="4402176"/>
            <a:ext cx="3950208" cy="5777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Encodes all 5 geographic columns into relative location frequency. Rare location combinations receive low weights, flagging unusual areas.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F22DA45-6C91-C9A9-B53E-BC5BCF8B4C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CB256853-A036-3B49-049E-4C3F71453F32}"/>
              </a:ext>
            </a:extLst>
          </p:cNvPr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26DA2F2-F0C7-F614-4706-7F04443A9CA0}"/>
              </a:ext>
            </a:extLst>
          </p:cNvPr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 Engineering — 4 Constructed Features</a:t>
            </a:r>
            <a:endParaRPr lang="en-US" sz="26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B2DB7F5E-D09B-ED78-B65E-636CC8698410}"/>
              </a:ext>
            </a:extLst>
          </p:cNvPr>
          <p:cNvSpPr/>
          <p:nvPr/>
        </p:nvSpPr>
        <p:spPr>
          <a:xfrm>
            <a:off x="265333" y="1052265"/>
            <a:ext cx="8613334" cy="340250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2BB532CF-21D6-BACB-3B45-C1F991938183}"/>
              </a:ext>
            </a:extLst>
          </p:cNvPr>
          <p:cNvSpPr/>
          <p:nvPr/>
        </p:nvSpPr>
        <p:spPr>
          <a:xfrm>
            <a:off x="265333" y="1052265"/>
            <a:ext cx="8613334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F3E9DB6A-DE7E-AB6A-6C3E-44F58B32C9D5}"/>
              </a:ext>
            </a:extLst>
          </p:cNvPr>
          <p:cNvSpPr/>
          <p:nvPr/>
        </p:nvSpPr>
        <p:spPr>
          <a:xfrm>
            <a:off x="402493" y="1143705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efficiency</a:t>
            </a:r>
            <a:endParaRPr lang="en-US" sz="1400" dirty="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7138839C-29F6-86E9-FFC4-8256E16ABDD4}"/>
              </a:ext>
            </a:extLst>
          </p:cNvPr>
          <p:cNvSpPr/>
          <p:nvPr/>
        </p:nvSpPr>
        <p:spPr>
          <a:xfrm>
            <a:off x="402493" y="1747209"/>
            <a:ext cx="8339014" cy="1769714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pPr>
              <a:lnSpc>
                <a:spcPts val="1425"/>
              </a:lnSpc>
              <a:buNone/>
            </a:pPr>
            <a:r>
              <a:rPr lang="en-SG" sz="1150" b="0" dirty="0" err="1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df</a:t>
            </a:r>
            <a:r>
              <a:rPr lang="en-SG" sz="1150" b="0" dirty="0">
                <a:solidFill>
                  <a:srgbClr val="DCDCDC"/>
                </a:solidFill>
                <a:effectLst/>
                <a:latin typeface="Courier New" panose="02070309020205020404" pitchFamily="49" charset="0"/>
              </a:rPr>
              <a:t>[</a:t>
            </a:r>
            <a:r>
              <a:rPr lang="en-SG" sz="1150" b="0" dirty="0">
                <a:solidFill>
                  <a:srgbClr val="CE9178"/>
                </a:solidFill>
                <a:effectLst/>
                <a:latin typeface="Courier New" panose="02070309020205020404" pitchFamily="49" charset="0"/>
              </a:rPr>
              <a:t>"loc"</a:t>
            </a:r>
            <a:r>
              <a:rPr lang="en-SG" sz="1150" b="0" dirty="0">
                <a:solidFill>
                  <a:srgbClr val="DCDCDC"/>
                </a:solidFill>
                <a:effectLst/>
                <a:latin typeface="Courier New" panose="02070309020205020404" pitchFamily="49" charset="0"/>
              </a:rPr>
              <a:t>]</a:t>
            </a:r>
            <a:r>
              <a:rPr lang="en-SG" sz="1150" b="0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 = </a:t>
            </a:r>
            <a:r>
              <a:rPr lang="en-SG" sz="1150" b="0" dirty="0">
                <a:solidFill>
                  <a:srgbClr val="DCDCDC"/>
                </a:solidFill>
                <a:effectLst/>
                <a:latin typeface="Courier New" panose="02070309020205020404" pitchFamily="49" charset="0"/>
              </a:rPr>
              <a:t>(</a:t>
            </a:r>
            <a:endParaRPr lang="en-SG" sz="1150" b="0" dirty="0">
              <a:solidFill>
                <a:srgbClr val="D4D4D4"/>
              </a:solidFill>
              <a:effectLst/>
              <a:latin typeface="Courier New" panose="020703090202050204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SG" sz="1150" b="0" dirty="0" err="1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df</a:t>
            </a:r>
            <a:r>
              <a:rPr lang="en-SG" sz="1150" b="0" dirty="0">
                <a:solidFill>
                  <a:srgbClr val="DCDCDC"/>
                </a:solidFill>
                <a:effectLst/>
                <a:latin typeface="Courier New" panose="02070309020205020404" pitchFamily="49" charset="0"/>
              </a:rPr>
              <a:t>[</a:t>
            </a:r>
            <a:r>
              <a:rPr lang="en-SG" sz="1150" b="0" dirty="0">
                <a:solidFill>
                  <a:srgbClr val="CE9178"/>
                </a:solidFill>
                <a:effectLst/>
                <a:latin typeface="Courier New" panose="02070309020205020404" pitchFamily="49" charset="0"/>
              </a:rPr>
              <a:t>"Circle"</a:t>
            </a:r>
            <a:r>
              <a:rPr lang="en-SG" sz="1150" b="0" dirty="0">
                <a:solidFill>
                  <a:srgbClr val="DCDCDC"/>
                </a:solidFill>
                <a:effectLst/>
                <a:latin typeface="Courier New" panose="02070309020205020404" pitchFamily="49" charset="0"/>
              </a:rPr>
              <a:t>]</a:t>
            </a:r>
            <a:r>
              <a:rPr lang="en-SG" sz="1150" b="0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.</a:t>
            </a:r>
            <a:r>
              <a:rPr lang="en-SG" sz="1150" b="0" dirty="0" err="1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astype</a:t>
            </a:r>
            <a:r>
              <a:rPr lang="en-SG" sz="1150" b="0" dirty="0">
                <a:solidFill>
                  <a:srgbClr val="DCDCDC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SG" sz="1150" b="0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str</a:t>
            </a:r>
            <a:r>
              <a:rPr lang="en-SG" sz="1150" b="0" dirty="0">
                <a:solidFill>
                  <a:srgbClr val="DCDCDC"/>
                </a:solidFill>
                <a:effectLst/>
                <a:latin typeface="Courier New" panose="02070309020205020404" pitchFamily="49" charset="0"/>
              </a:rPr>
              <a:t>)</a:t>
            </a:r>
            <a:r>
              <a:rPr lang="en-SG" sz="1150" b="0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 + </a:t>
            </a:r>
            <a:r>
              <a:rPr lang="en-SG" sz="1150" b="0" dirty="0">
                <a:solidFill>
                  <a:srgbClr val="CE9178"/>
                </a:solidFill>
                <a:effectLst/>
                <a:latin typeface="Courier New" panose="02070309020205020404" pitchFamily="49" charset="0"/>
              </a:rPr>
              <a:t>","</a:t>
            </a:r>
            <a:r>
              <a:rPr lang="en-SG" sz="1150" b="0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 +</a:t>
            </a:r>
          </a:p>
          <a:p>
            <a:pPr>
              <a:lnSpc>
                <a:spcPts val="1425"/>
              </a:lnSpc>
              <a:buNone/>
            </a:pPr>
            <a:r>
              <a:rPr lang="en-SG" sz="1150" b="0" dirty="0" err="1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df</a:t>
            </a:r>
            <a:r>
              <a:rPr lang="en-SG" sz="1150" b="0" dirty="0">
                <a:solidFill>
                  <a:srgbClr val="DCDCDC"/>
                </a:solidFill>
                <a:effectLst/>
                <a:latin typeface="Courier New" panose="02070309020205020404" pitchFamily="49" charset="0"/>
              </a:rPr>
              <a:t>[</a:t>
            </a:r>
            <a:r>
              <a:rPr lang="en-SG" sz="1150" b="0" dirty="0">
                <a:solidFill>
                  <a:srgbClr val="CE9178"/>
                </a:solidFill>
                <a:effectLst/>
                <a:latin typeface="Courier New" panose="02070309020205020404" pitchFamily="49" charset="0"/>
              </a:rPr>
              <a:t>"Division"</a:t>
            </a:r>
            <a:r>
              <a:rPr lang="en-SG" sz="1150" b="0" dirty="0">
                <a:solidFill>
                  <a:srgbClr val="DCDCDC"/>
                </a:solidFill>
                <a:effectLst/>
                <a:latin typeface="Courier New" panose="02070309020205020404" pitchFamily="49" charset="0"/>
              </a:rPr>
              <a:t>]</a:t>
            </a:r>
            <a:r>
              <a:rPr lang="en-SG" sz="1150" b="0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.</a:t>
            </a:r>
            <a:r>
              <a:rPr lang="en-SG" sz="1150" b="0" dirty="0" err="1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astype</a:t>
            </a:r>
            <a:r>
              <a:rPr lang="en-SG" sz="1150" b="0" dirty="0">
                <a:solidFill>
                  <a:srgbClr val="DCDCDC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SG" sz="1150" b="0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str</a:t>
            </a:r>
            <a:r>
              <a:rPr lang="en-SG" sz="1150" b="0" dirty="0">
                <a:solidFill>
                  <a:srgbClr val="DCDCDC"/>
                </a:solidFill>
                <a:effectLst/>
                <a:latin typeface="Courier New" panose="02070309020205020404" pitchFamily="49" charset="0"/>
              </a:rPr>
              <a:t>)</a:t>
            </a:r>
            <a:r>
              <a:rPr lang="en-SG" sz="1150" b="0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 + </a:t>
            </a:r>
            <a:r>
              <a:rPr lang="en-SG" sz="1150" b="0" dirty="0">
                <a:solidFill>
                  <a:srgbClr val="CE9178"/>
                </a:solidFill>
                <a:effectLst/>
                <a:latin typeface="Courier New" panose="02070309020205020404" pitchFamily="49" charset="0"/>
              </a:rPr>
              <a:t>","</a:t>
            </a:r>
            <a:r>
              <a:rPr lang="en-SG" sz="1150" b="0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 +</a:t>
            </a:r>
          </a:p>
          <a:p>
            <a:pPr>
              <a:lnSpc>
                <a:spcPts val="1425"/>
              </a:lnSpc>
              <a:buNone/>
            </a:pPr>
            <a:r>
              <a:rPr lang="en-SG" sz="1150" b="0" dirty="0" err="1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df</a:t>
            </a:r>
            <a:r>
              <a:rPr lang="en-SG" sz="1150" b="0" dirty="0">
                <a:solidFill>
                  <a:srgbClr val="DCDCDC"/>
                </a:solidFill>
                <a:effectLst/>
                <a:latin typeface="Courier New" panose="02070309020205020404" pitchFamily="49" charset="0"/>
              </a:rPr>
              <a:t>[</a:t>
            </a:r>
            <a:r>
              <a:rPr lang="en-SG" sz="1150" b="0" dirty="0">
                <a:solidFill>
                  <a:srgbClr val="CE9178"/>
                </a:solidFill>
                <a:effectLst/>
                <a:latin typeface="Courier New" panose="02070309020205020404" pitchFamily="49" charset="0"/>
              </a:rPr>
              <a:t>"</a:t>
            </a:r>
            <a:r>
              <a:rPr lang="en-SG" sz="1150" b="0" dirty="0" err="1">
                <a:solidFill>
                  <a:srgbClr val="CE9178"/>
                </a:solidFill>
                <a:effectLst/>
                <a:latin typeface="Courier New" panose="02070309020205020404" pitchFamily="49" charset="0"/>
              </a:rPr>
              <a:t>SubDivision</a:t>
            </a:r>
            <a:r>
              <a:rPr lang="en-SG" sz="1150" b="0" dirty="0">
                <a:solidFill>
                  <a:srgbClr val="CE9178"/>
                </a:solidFill>
                <a:effectLst/>
                <a:latin typeface="Courier New" panose="02070309020205020404" pitchFamily="49" charset="0"/>
              </a:rPr>
              <a:t>"</a:t>
            </a:r>
            <a:r>
              <a:rPr lang="en-SG" sz="1150" b="0" dirty="0">
                <a:solidFill>
                  <a:srgbClr val="DCDCDC"/>
                </a:solidFill>
                <a:effectLst/>
                <a:latin typeface="Courier New" panose="02070309020205020404" pitchFamily="49" charset="0"/>
              </a:rPr>
              <a:t>]</a:t>
            </a:r>
            <a:r>
              <a:rPr lang="en-SG" sz="1150" b="0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.</a:t>
            </a:r>
            <a:r>
              <a:rPr lang="en-SG" sz="1150" b="0" dirty="0" err="1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astype</a:t>
            </a:r>
            <a:r>
              <a:rPr lang="en-SG" sz="1150" b="0" dirty="0">
                <a:solidFill>
                  <a:srgbClr val="DCDCDC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SG" sz="1150" b="0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str</a:t>
            </a:r>
            <a:r>
              <a:rPr lang="en-SG" sz="1150" b="0" dirty="0">
                <a:solidFill>
                  <a:srgbClr val="DCDCDC"/>
                </a:solidFill>
                <a:effectLst/>
                <a:latin typeface="Courier New" panose="02070309020205020404" pitchFamily="49" charset="0"/>
              </a:rPr>
              <a:t>)</a:t>
            </a:r>
            <a:r>
              <a:rPr lang="en-SG" sz="1150" b="0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 + </a:t>
            </a:r>
            <a:r>
              <a:rPr lang="en-SG" sz="1150" b="0" dirty="0">
                <a:solidFill>
                  <a:srgbClr val="CE9178"/>
                </a:solidFill>
                <a:effectLst/>
                <a:latin typeface="Courier New" panose="02070309020205020404" pitchFamily="49" charset="0"/>
              </a:rPr>
              <a:t>","</a:t>
            </a:r>
            <a:r>
              <a:rPr lang="en-SG" sz="1150" b="0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 +</a:t>
            </a:r>
          </a:p>
          <a:p>
            <a:pPr>
              <a:lnSpc>
                <a:spcPts val="1425"/>
              </a:lnSpc>
              <a:buNone/>
            </a:pPr>
            <a:r>
              <a:rPr lang="en-SG" sz="1150" b="0" dirty="0" err="1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df</a:t>
            </a:r>
            <a:r>
              <a:rPr lang="en-SG" sz="1150" b="0" dirty="0">
                <a:solidFill>
                  <a:srgbClr val="DCDCDC"/>
                </a:solidFill>
                <a:effectLst/>
                <a:latin typeface="Courier New" panose="02070309020205020404" pitchFamily="49" charset="0"/>
              </a:rPr>
              <a:t>[</a:t>
            </a:r>
            <a:r>
              <a:rPr lang="en-SG" sz="1150" b="0" dirty="0">
                <a:solidFill>
                  <a:srgbClr val="CE9178"/>
                </a:solidFill>
                <a:effectLst/>
                <a:latin typeface="Courier New" panose="02070309020205020404" pitchFamily="49" charset="0"/>
              </a:rPr>
              <a:t>"Section"</a:t>
            </a:r>
            <a:r>
              <a:rPr lang="en-SG" sz="1150" b="0" dirty="0">
                <a:solidFill>
                  <a:srgbClr val="DCDCDC"/>
                </a:solidFill>
                <a:effectLst/>
                <a:latin typeface="Courier New" panose="02070309020205020404" pitchFamily="49" charset="0"/>
              </a:rPr>
              <a:t>]</a:t>
            </a:r>
            <a:r>
              <a:rPr lang="en-SG" sz="1150" b="0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.</a:t>
            </a:r>
            <a:r>
              <a:rPr lang="en-SG" sz="1150" b="0" dirty="0" err="1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astype</a:t>
            </a:r>
            <a:r>
              <a:rPr lang="en-SG" sz="1150" b="0" dirty="0">
                <a:solidFill>
                  <a:srgbClr val="DCDCDC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SG" sz="1150" b="0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str</a:t>
            </a:r>
            <a:r>
              <a:rPr lang="en-SG" sz="1150" b="0" dirty="0">
                <a:solidFill>
                  <a:srgbClr val="DCDCDC"/>
                </a:solidFill>
                <a:effectLst/>
                <a:latin typeface="Courier New" panose="02070309020205020404" pitchFamily="49" charset="0"/>
              </a:rPr>
              <a:t>)</a:t>
            </a:r>
            <a:r>
              <a:rPr lang="en-SG" sz="1150" b="0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 + </a:t>
            </a:r>
            <a:r>
              <a:rPr lang="en-SG" sz="1150" b="0" dirty="0">
                <a:solidFill>
                  <a:srgbClr val="CE9178"/>
                </a:solidFill>
                <a:effectLst/>
                <a:latin typeface="Courier New" panose="02070309020205020404" pitchFamily="49" charset="0"/>
              </a:rPr>
              <a:t>","</a:t>
            </a:r>
            <a:r>
              <a:rPr lang="en-SG" sz="1150" b="0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 +</a:t>
            </a:r>
          </a:p>
          <a:p>
            <a:pPr>
              <a:lnSpc>
                <a:spcPts val="1425"/>
              </a:lnSpc>
              <a:buNone/>
            </a:pPr>
            <a:r>
              <a:rPr lang="en-SG" sz="1150" b="0" dirty="0" err="1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df</a:t>
            </a:r>
            <a:r>
              <a:rPr lang="en-SG" sz="1150" b="0" dirty="0">
                <a:solidFill>
                  <a:srgbClr val="DCDCDC"/>
                </a:solidFill>
                <a:effectLst/>
                <a:latin typeface="Courier New" panose="02070309020205020404" pitchFamily="49" charset="0"/>
              </a:rPr>
              <a:t>[</a:t>
            </a:r>
            <a:r>
              <a:rPr lang="en-SG" sz="1150" b="0" dirty="0">
                <a:solidFill>
                  <a:srgbClr val="CE9178"/>
                </a:solidFill>
                <a:effectLst/>
                <a:latin typeface="Courier New" panose="02070309020205020404" pitchFamily="49" charset="0"/>
              </a:rPr>
              <a:t>"Area"</a:t>
            </a:r>
            <a:r>
              <a:rPr lang="en-SG" sz="1150" b="0" dirty="0">
                <a:solidFill>
                  <a:srgbClr val="DCDCDC"/>
                </a:solidFill>
                <a:effectLst/>
                <a:latin typeface="Courier New" panose="02070309020205020404" pitchFamily="49" charset="0"/>
              </a:rPr>
              <a:t>]</a:t>
            </a:r>
            <a:r>
              <a:rPr lang="en-SG" sz="1150" b="0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.</a:t>
            </a:r>
            <a:r>
              <a:rPr lang="en-SG" sz="1150" b="0" dirty="0" err="1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astype</a:t>
            </a:r>
            <a:r>
              <a:rPr lang="en-SG" sz="1150" b="0" dirty="0">
                <a:solidFill>
                  <a:srgbClr val="DCDCDC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SG" sz="1150" b="0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str</a:t>
            </a:r>
            <a:r>
              <a:rPr lang="en-SG" sz="1150" b="0" dirty="0">
                <a:solidFill>
                  <a:srgbClr val="DCDCDC"/>
                </a:solidFill>
                <a:effectLst/>
                <a:latin typeface="Courier New" panose="02070309020205020404" pitchFamily="49" charset="0"/>
              </a:rPr>
              <a:t>)</a:t>
            </a:r>
            <a:endParaRPr lang="en-SG" sz="1150" b="0" dirty="0">
              <a:solidFill>
                <a:srgbClr val="D4D4D4"/>
              </a:solidFill>
              <a:effectLst/>
              <a:latin typeface="Courier New" panose="020703090202050204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SG" sz="1150" b="0" dirty="0">
                <a:solidFill>
                  <a:srgbClr val="DCDCDC"/>
                </a:solidFill>
                <a:effectLst/>
                <a:latin typeface="Courier New" panose="02070309020205020404" pitchFamily="49" charset="0"/>
              </a:rPr>
              <a:t>)</a:t>
            </a:r>
            <a:endParaRPr lang="en-SG" sz="1150" b="0" dirty="0">
              <a:solidFill>
                <a:srgbClr val="D4D4D4"/>
              </a:solidFill>
              <a:effectLst/>
              <a:latin typeface="Courier New" panose="020703090202050204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SG" sz="1150" b="0" dirty="0" err="1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freq</a:t>
            </a:r>
            <a:r>
              <a:rPr lang="en-SG" sz="1150" b="0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 = </a:t>
            </a:r>
            <a:r>
              <a:rPr lang="en-SG" sz="1150" b="0" dirty="0" err="1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df</a:t>
            </a:r>
            <a:r>
              <a:rPr lang="en-SG" sz="1150" b="0" dirty="0">
                <a:solidFill>
                  <a:srgbClr val="DCDCDC"/>
                </a:solidFill>
                <a:effectLst/>
                <a:latin typeface="Courier New" panose="02070309020205020404" pitchFamily="49" charset="0"/>
              </a:rPr>
              <a:t>[</a:t>
            </a:r>
            <a:r>
              <a:rPr lang="en-SG" sz="1150" b="0" dirty="0">
                <a:solidFill>
                  <a:srgbClr val="CE9178"/>
                </a:solidFill>
                <a:effectLst/>
                <a:latin typeface="Courier New" panose="02070309020205020404" pitchFamily="49" charset="0"/>
              </a:rPr>
              <a:t>"loc"</a:t>
            </a:r>
            <a:r>
              <a:rPr lang="en-SG" sz="1150" b="0" dirty="0">
                <a:solidFill>
                  <a:srgbClr val="DCDCDC"/>
                </a:solidFill>
                <a:effectLst/>
                <a:latin typeface="Courier New" panose="02070309020205020404" pitchFamily="49" charset="0"/>
              </a:rPr>
              <a:t>]</a:t>
            </a:r>
            <a:r>
              <a:rPr lang="en-SG" sz="1150" b="0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.</a:t>
            </a:r>
            <a:r>
              <a:rPr lang="en-SG" sz="1150" b="0" dirty="0" err="1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value_counts</a:t>
            </a:r>
            <a:r>
              <a:rPr lang="en-SG" sz="1150" b="0" dirty="0">
                <a:solidFill>
                  <a:srgbClr val="DCDCDC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SG" sz="1150" b="0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normalize=</a:t>
            </a:r>
            <a:r>
              <a:rPr lang="en-SG" sz="1150" b="0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True</a:t>
            </a:r>
            <a:r>
              <a:rPr lang="en-SG" sz="1150" b="0" dirty="0">
                <a:solidFill>
                  <a:srgbClr val="DCDCDC"/>
                </a:solidFill>
                <a:effectLst/>
                <a:latin typeface="Courier New" panose="02070309020205020404" pitchFamily="49" charset="0"/>
              </a:rPr>
              <a:t>)</a:t>
            </a:r>
            <a:endParaRPr lang="en-SG" sz="1150" b="0" dirty="0">
              <a:solidFill>
                <a:srgbClr val="D4D4D4"/>
              </a:solidFill>
              <a:effectLst/>
              <a:latin typeface="Courier New" panose="020703090202050204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SG" sz="1150" b="0" dirty="0" err="1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df</a:t>
            </a:r>
            <a:r>
              <a:rPr lang="en-SG" sz="1150" b="0" dirty="0">
                <a:solidFill>
                  <a:srgbClr val="DCDCDC"/>
                </a:solidFill>
                <a:effectLst/>
                <a:latin typeface="Courier New" panose="02070309020205020404" pitchFamily="49" charset="0"/>
              </a:rPr>
              <a:t>[</a:t>
            </a:r>
            <a:r>
              <a:rPr lang="en-SG" sz="1150" b="0" dirty="0">
                <a:solidFill>
                  <a:srgbClr val="CE9178"/>
                </a:solidFill>
                <a:effectLst/>
                <a:latin typeface="Courier New" panose="02070309020205020404" pitchFamily="49" charset="0"/>
              </a:rPr>
              <a:t>"areas"</a:t>
            </a:r>
            <a:r>
              <a:rPr lang="en-SG" sz="1150" b="0" dirty="0">
                <a:solidFill>
                  <a:srgbClr val="DCDCDC"/>
                </a:solidFill>
                <a:effectLst/>
                <a:latin typeface="Courier New" panose="02070309020205020404" pitchFamily="49" charset="0"/>
              </a:rPr>
              <a:t>]</a:t>
            </a:r>
            <a:r>
              <a:rPr lang="en-SG" sz="1150" b="0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 = </a:t>
            </a:r>
            <a:r>
              <a:rPr lang="en-SG" sz="1150" b="0" dirty="0" err="1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df</a:t>
            </a:r>
            <a:r>
              <a:rPr lang="en-SG" sz="1150" b="0" dirty="0">
                <a:solidFill>
                  <a:srgbClr val="DCDCDC"/>
                </a:solidFill>
                <a:effectLst/>
                <a:latin typeface="Courier New" panose="02070309020205020404" pitchFamily="49" charset="0"/>
              </a:rPr>
              <a:t>[</a:t>
            </a:r>
            <a:r>
              <a:rPr lang="en-SG" sz="1150" b="0" dirty="0">
                <a:solidFill>
                  <a:srgbClr val="CE9178"/>
                </a:solidFill>
                <a:effectLst/>
                <a:latin typeface="Courier New" panose="02070309020205020404" pitchFamily="49" charset="0"/>
              </a:rPr>
              <a:t>"loc"</a:t>
            </a:r>
            <a:r>
              <a:rPr lang="en-SG" sz="1150" b="0" dirty="0">
                <a:solidFill>
                  <a:srgbClr val="DCDCDC"/>
                </a:solidFill>
                <a:effectLst/>
                <a:latin typeface="Courier New" panose="02070309020205020404" pitchFamily="49" charset="0"/>
              </a:rPr>
              <a:t>]</a:t>
            </a:r>
            <a:r>
              <a:rPr lang="en-SG" sz="1150" b="0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.</a:t>
            </a:r>
            <a:r>
              <a:rPr lang="en-SG" sz="1150" b="0" dirty="0">
                <a:solidFill>
                  <a:srgbClr val="DCDCAA"/>
                </a:solidFill>
                <a:effectLst/>
                <a:latin typeface="Courier New" panose="02070309020205020404" pitchFamily="49" charset="0"/>
              </a:rPr>
              <a:t>map</a:t>
            </a:r>
            <a:r>
              <a:rPr lang="en-SG" sz="1150" b="0" dirty="0">
                <a:solidFill>
                  <a:srgbClr val="DCDCDC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SG" sz="1150" b="0" dirty="0" err="1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freq</a:t>
            </a:r>
            <a:r>
              <a:rPr lang="en-SG" sz="1150" b="0" dirty="0">
                <a:solidFill>
                  <a:srgbClr val="DCDCDC"/>
                </a:solidFill>
                <a:effectLst/>
                <a:latin typeface="Courier New" panose="02070309020205020404" pitchFamily="49" charset="0"/>
              </a:rPr>
              <a:t>)</a:t>
            </a:r>
            <a:endParaRPr lang="en-SG" sz="1150" b="0" dirty="0">
              <a:solidFill>
                <a:srgbClr val="D4D4D4"/>
              </a:solidFill>
              <a:effectLst/>
              <a:latin typeface="Courier New" panose="02070309020205020404" pitchFamily="49" charset="0"/>
            </a:endParaRPr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B2B4C815-F31F-F103-D4B5-2E9968D29B03}"/>
              </a:ext>
            </a:extLst>
          </p:cNvPr>
          <p:cNvSpPr/>
          <p:nvPr/>
        </p:nvSpPr>
        <p:spPr>
          <a:xfrm>
            <a:off x="416208" y="3669913"/>
            <a:ext cx="8270591" cy="659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 consumed per unit of load. </a:t>
            </a:r>
          </a:p>
          <a:p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Abnormally high ratio → meter under-reporting true consumption. </a:t>
            </a:r>
          </a:p>
          <a:p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Captures stuck/tampered/bypassed meters.</a:t>
            </a:r>
            <a:endParaRPr lang="en-US" sz="1100" dirty="0"/>
          </a:p>
        </p:txBody>
      </p:sp>
      <p:sp>
        <p:nvSpPr>
          <p:cNvPr id="21" name="Text 20">
            <a:extLst>
              <a:ext uri="{FF2B5EF4-FFF2-40B4-BE49-F238E27FC236}">
                <a16:creationId xmlns:a16="http://schemas.microsoft.com/office/drawing/2014/main" id="{9FB8A0B8-A00B-8CF8-DFD0-DFE649CCC220}"/>
              </a:ext>
            </a:extLst>
          </p:cNvPr>
          <p:cNvSpPr/>
          <p:nvPr/>
        </p:nvSpPr>
        <p:spPr>
          <a:xfrm>
            <a:off x="402493" y="3364251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400" dirty="0"/>
          </a:p>
        </p:txBody>
      </p:sp>
      <p:sp>
        <p:nvSpPr>
          <p:cNvPr id="22" name="Shape 21">
            <a:extLst>
              <a:ext uri="{FF2B5EF4-FFF2-40B4-BE49-F238E27FC236}">
                <a16:creationId xmlns:a16="http://schemas.microsoft.com/office/drawing/2014/main" id="{75C2583D-7E9F-E70E-329D-C37268FCB53C}"/>
              </a:ext>
            </a:extLst>
          </p:cNvPr>
          <p:cNvSpPr/>
          <p:nvPr/>
        </p:nvSpPr>
        <p:spPr>
          <a:xfrm>
            <a:off x="7105709" y="1193569"/>
            <a:ext cx="1554480" cy="274320"/>
          </a:xfrm>
          <a:prstGeom prst="rect">
            <a:avLst/>
          </a:prstGeom>
          <a:solidFill>
            <a:srgbClr val="FEE2E2"/>
          </a:solidFill>
          <a:ln w="10160">
            <a:solidFill>
              <a:srgbClr val="991B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2">
            <a:extLst>
              <a:ext uri="{FF2B5EF4-FFF2-40B4-BE49-F238E27FC236}">
                <a16:creationId xmlns:a16="http://schemas.microsoft.com/office/drawing/2014/main" id="{7844BE7C-62CC-7B86-65C0-6DBED858DEBA}"/>
              </a:ext>
            </a:extLst>
          </p:cNvPr>
          <p:cNvSpPr/>
          <p:nvPr/>
        </p:nvSpPr>
        <p:spPr>
          <a:xfrm>
            <a:off x="7105709" y="1209395"/>
            <a:ext cx="153619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Tampering signal</a:t>
            </a:r>
            <a:endParaRPr lang="en-US" sz="1000" dirty="0"/>
          </a:p>
        </p:txBody>
      </p:sp>
      <p:sp>
        <p:nvSpPr>
          <p:cNvPr id="31" name="Shape 34">
            <a:extLst>
              <a:ext uri="{FF2B5EF4-FFF2-40B4-BE49-F238E27FC236}">
                <a16:creationId xmlns:a16="http://schemas.microsoft.com/office/drawing/2014/main" id="{1F8AB88C-7195-56B7-2AF2-5ABABE25EDFB}"/>
              </a:ext>
            </a:extLst>
          </p:cNvPr>
          <p:cNvSpPr/>
          <p:nvPr/>
        </p:nvSpPr>
        <p:spPr>
          <a:xfrm>
            <a:off x="375882" y="4619985"/>
            <a:ext cx="8421467" cy="34747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32" name="Text 35">
            <a:extLst>
              <a:ext uri="{FF2B5EF4-FFF2-40B4-BE49-F238E27FC236}">
                <a16:creationId xmlns:a16="http://schemas.microsoft.com/office/drawing/2014/main" id="{73E893D3-F9A5-6AD1-9325-26C9622DDD85}"/>
              </a:ext>
            </a:extLst>
          </p:cNvPr>
          <p:cNvSpPr/>
          <p:nvPr/>
        </p:nvSpPr>
        <p:spPr>
          <a:xfrm>
            <a:off x="510382" y="4656561"/>
            <a:ext cx="814980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Final input:   X = df[["time_index",  "billing_rate",  "efficiency",  "areas"]]</a:t>
            </a:r>
            <a:endParaRPr lang="en-US" sz="1150" dirty="0"/>
          </a:p>
        </p:txBody>
      </p:sp>
    </p:spTree>
    <p:extLst>
      <p:ext uri="{BB962C8B-B14F-4D97-AF65-F5344CB8AC3E}">
        <p14:creationId xmlns:p14="http://schemas.microsoft.com/office/powerpoint/2010/main" val="354442498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C312ECC-9223-1979-73DD-A7A7F8AF3D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2B25760B-ADB8-DDE1-F1AD-93A33FAE129B}"/>
              </a:ext>
            </a:extLst>
          </p:cNvPr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3076E0B-93DE-143E-D5E4-0ADA664009E2}"/>
              </a:ext>
            </a:extLst>
          </p:cNvPr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Coding the updated database</a:t>
            </a:r>
            <a:endParaRPr lang="en-US" sz="26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1E33CB7-9505-08B3-C6D5-56963F8E973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9450"/>
          <a:stretch>
            <a:fillRect/>
          </a:stretch>
        </p:blipFill>
        <p:spPr>
          <a:xfrm>
            <a:off x="278695" y="1266092"/>
            <a:ext cx="8586609" cy="17117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488403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A4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BE021E-4FFC-311C-3088-C38FE8AFF3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06F3B82E-8857-9BED-9B1D-F5972971ABEA}"/>
              </a:ext>
            </a:extLst>
          </p:cNvPr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4B6B562-8084-CE99-8363-999B34285EA9}"/>
              </a:ext>
            </a:extLst>
          </p:cNvPr>
          <p:cNvSpPr/>
          <p:nvPr/>
        </p:nvSpPr>
        <p:spPr>
          <a:xfrm>
            <a:off x="320040" y="274320"/>
            <a:ext cx="8503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Training the ODIF model</a:t>
            </a:r>
            <a:endParaRPr lang="en-US" sz="28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EF465C5C-FC7A-3938-146C-7C264149F490}"/>
              </a:ext>
            </a:extLst>
          </p:cNvPr>
          <p:cNvSpPr/>
          <p:nvPr/>
        </p:nvSpPr>
        <p:spPr>
          <a:xfrm>
            <a:off x="320040" y="960120"/>
            <a:ext cx="8503920" cy="914400"/>
          </a:xfrm>
          <a:prstGeom prst="rect">
            <a:avLst/>
          </a:prstGeom>
          <a:solidFill>
            <a:srgbClr val="0D9488">
              <a:alpha val="18000"/>
            </a:srgbClr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F38B6E7E-B523-F31B-6107-032C4E11C09A}"/>
              </a:ext>
            </a:extLst>
          </p:cNvPr>
          <p:cNvSpPr/>
          <p:nvPr/>
        </p:nvSpPr>
        <p:spPr>
          <a:xfrm>
            <a:off x="457200" y="1005840"/>
            <a:ext cx="822960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Codebase used: </a:t>
            </a:r>
            <a:r>
              <a:rPr lang="en-SG" b="1" dirty="0">
                <a:solidFill>
                  <a:schemeClr val="bg1"/>
                </a:solidFill>
              </a:rPr>
              <a:t>optimised-deep-isolation-forest by Łukasz </a:t>
            </a:r>
            <a:r>
              <a:rPr lang="en-SG" b="1" dirty="0" err="1">
                <a:solidFill>
                  <a:schemeClr val="bg1"/>
                </a:solidFill>
              </a:rPr>
              <a:t>Gałka</a:t>
            </a:r>
            <a:endParaRPr lang="en-US" sz="1600" b="1" dirty="0">
              <a:solidFill>
                <a:schemeClr val="bg1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  <a:p>
            <a:pPr algn="ctr"/>
            <a:r>
              <a:rPr lang="en-SG" dirty="0">
                <a:solidFill>
                  <a:schemeClr val="bg1"/>
                </a:solidFill>
              </a:rPr>
              <a:t>https://</a:t>
            </a:r>
            <a:r>
              <a:rPr lang="en-SG" dirty="0" err="1">
                <a:solidFill>
                  <a:schemeClr val="bg1"/>
                </a:solidFill>
              </a:rPr>
              <a:t>github.com</a:t>
            </a:r>
            <a:r>
              <a:rPr lang="en-SG" dirty="0">
                <a:solidFill>
                  <a:schemeClr val="bg1"/>
                </a:solidFill>
              </a:rPr>
              <a:t>/</a:t>
            </a:r>
            <a:r>
              <a:rPr lang="en-SG" dirty="0" err="1">
                <a:solidFill>
                  <a:schemeClr val="bg1"/>
                </a:solidFill>
              </a:rPr>
              <a:t>lukasz</a:t>
            </a:r>
            <a:r>
              <a:rPr lang="en-SG" dirty="0">
                <a:solidFill>
                  <a:schemeClr val="bg1"/>
                </a:solidFill>
              </a:rPr>
              <a:t>-</a:t>
            </a:r>
            <a:r>
              <a:rPr lang="en-SG" dirty="0" err="1">
                <a:solidFill>
                  <a:schemeClr val="bg1"/>
                </a:solidFill>
              </a:rPr>
              <a:t>galka</a:t>
            </a:r>
            <a:r>
              <a:rPr lang="en-SG" dirty="0">
                <a:solidFill>
                  <a:schemeClr val="bg1"/>
                </a:solidFill>
              </a:rPr>
              <a:t>-algorithms/optimized-deep-isolation-</a:t>
            </a:r>
            <a:r>
              <a:rPr lang="en-SG" dirty="0" err="1">
                <a:solidFill>
                  <a:schemeClr val="bg1"/>
                </a:solidFill>
              </a:rPr>
              <a:t>forest.git</a:t>
            </a:r>
            <a:endParaRPr lang="en-SG" dirty="0">
              <a:solidFill>
                <a:schemeClr val="bg1"/>
              </a:solidFill>
            </a:endParaRP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4F335383-B0ED-5427-530C-BB39AF8D18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2280310"/>
            <a:ext cx="4337538" cy="23637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838125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201168"/>
            <a:ext cx="8503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Configuration — ODIF on NPDCL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20040" y="868680"/>
            <a:ext cx="8503920" cy="3337560"/>
          </a:xfrm>
          <a:prstGeom prst="rect">
            <a:avLst/>
          </a:prstGeom>
          <a:solidFill>
            <a:srgbClr val="112240"/>
          </a:solidFill>
          <a:ln w="12700">
            <a:solidFill>
              <a:srgbClr val="2A4A6C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960120"/>
            <a:ext cx="3931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ODIF Configuration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38912" y="1353312"/>
            <a:ext cx="8174736" cy="347472"/>
          </a:xfrm>
          <a:prstGeom prst="rect">
            <a:avLst/>
          </a:prstGeom>
          <a:solidFill>
            <a:srgbClr val="1A3A5C"/>
          </a:solidFill>
          <a:ln w="6350">
            <a:solidFill>
              <a:srgbClr val="2A4A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30352" y="1389888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9F6E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optimization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852928" y="1389888"/>
            <a:ext cx="685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611880" y="1408176"/>
            <a:ext cx="7498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ODIF mode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38911" y="1755648"/>
            <a:ext cx="8174737" cy="347472"/>
          </a:xfrm>
          <a:prstGeom prst="rect">
            <a:avLst/>
          </a:prstGeom>
          <a:solidFill>
            <a:srgbClr val="162F4E"/>
          </a:solidFill>
          <a:ln w="6350">
            <a:solidFill>
              <a:srgbClr val="2A4A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30352" y="1792224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9F6E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representations_number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852928" y="1792224"/>
            <a:ext cx="685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50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611879" y="1810512"/>
            <a:ext cx="1296183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= 50 projection spaces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38912" y="2157984"/>
            <a:ext cx="8174736" cy="347472"/>
          </a:xfrm>
          <a:prstGeom prst="rect">
            <a:avLst/>
          </a:prstGeom>
          <a:solidFill>
            <a:srgbClr val="1A3A5C"/>
          </a:solidFill>
          <a:ln w="6350">
            <a:solidFill>
              <a:srgbClr val="2A4A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30352" y="2194560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9F6E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trees_per_representation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2852928" y="2194560"/>
            <a:ext cx="685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611879" y="2212848"/>
            <a:ext cx="1147689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 = 6 trees each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38912" y="2560320"/>
            <a:ext cx="8174736" cy="347472"/>
          </a:xfrm>
          <a:prstGeom prst="rect">
            <a:avLst/>
          </a:prstGeom>
          <a:solidFill>
            <a:srgbClr val="162F4E"/>
          </a:solidFill>
          <a:ln w="6350">
            <a:solidFill>
              <a:srgbClr val="2A4A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30352" y="2596896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9F6E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samples_number_per_tree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2852928" y="2596896"/>
            <a:ext cx="685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256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3611880" y="2615184"/>
            <a:ext cx="103827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256 per tree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38912" y="2962656"/>
            <a:ext cx="8174736" cy="347472"/>
          </a:xfrm>
          <a:prstGeom prst="rect">
            <a:avLst/>
          </a:prstGeom>
          <a:solidFill>
            <a:srgbClr val="1A3A5C"/>
          </a:solidFill>
          <a:ln w="6350">
            <a:solidFill>
              <a:srgbClr val="2A4A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30352" y="299923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9F6E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network_hidden_dimensions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2852928" y="2999232"/>
            <a:ext cx="685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[500]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3611880" y="3017520"/>
            <a:ext cx="155409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hidden layer MLP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38912" y="3364992"/>
            <a:ext cx="8174736" cy="347472"/>
          </a:xfrm>
          <a:prstGeom prst="rect">
            <a:avLst/>
          </a:prstGeom>
          <a:solidFill>
            <a:srgbClr val="162F4E"/>
          </a:solidFill>
          <a:ln w="6350">
            <a:solidFill>
              <a:srgbClr val="2A4A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30352" y="3401568"/>
            <a:ext cx="23225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9F6E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representation_dimensionality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2852928" y="3401568"/>
            <a:ext cx="685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3611880" y="3419856"/>
            <a:ext cx="114768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projects to ℝ²⁰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38912" y="3767328"/>
            <a:ext cx="8174736" cy="347472"/>
          </a:xfrm>
          <a:prstGeom prst="rect">
            <a:avLst/>
          </a:prstGeom>
          <a:solidFill>
            <a:srgbClr val="1A3A5C"/>
          </a:solidFill>
          <a:ln w="6350">
            <a:solidFill>
              <a:srgbClr val="2A4A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530352" y="3803904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9F6E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seed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2852928" y="3803904"/>
            <a:ext cx="685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3611880" y="3822192"/>
            <a:ext cx="103827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reproducibility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A4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AA9DBE4-30C1-C77E-81B3-99765A6221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35BF980-B0FC-8945-3424-4146FC0C2E51}"/>
              </a:ext>
            </a:extLst>
          </p:cNvPr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142B5C8-4AAF-5B04-912A-9E0071773696}"/>
              </a:ext>
            </a:extLst>
          </p:cNvPr>
          <p:cNvSpPr/>
          <p:nvPr/>
        </p:nvSpPr>
        <p:spPr>
          <a:xfrm>
            <a:off x="320040" y="274320"/>
            <a:ext cx="8503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Calculating and plotting the anomaly scores</a:t>
            </a:r>
            <a:endParaRPr lang="en-US" sz="28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78F059E-45BC-C4CA-4411-FCF0EA3857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638" y="905256"/>
            <a:ext cx="5359400" cy="10922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55A8764-9C33-2747-06C0-ABC500E629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638" y="2079752"/>
            <a:ext cx="7772400" cy="2061615"/>
          </a:xfrm>
          <a:prstGeom prst="rect">
            <a:avLst/>
          </a:prstGeom>
        </p:spPr>
      </p:pic>
      <p:sp>
        <p:nvSpPr>
          <p:cNvPr id="10" name="Shape 49">
            <a:extLst>
              <a:ext uri="{FF2B5EF4-FFF2-40B4-BE49-F238E27FC236}">
                <a16:creationId xmlns:a16="http://schemas.microsoft.com/office/drawing/2014/main" id="{6020EDB2-8912-176A-1F5A-7E2D9880CAFA}"/>
              </a:ext>
            </a:extLst>
          </p:cNvPr>
          <p:cNvSpPr/>
          <p:nvPr/>
        </p:nvSpPr>
        <p:spPr>
          <a:xfrm>
            <a:off x="320040" y="4325112"/>
            <a:ext cx="8503920" cy="621792"/>
          </a:xfrm>
          <a:prstGeom prst="rect">
            <a:avLst/>
          </a:prstGeom>
          <a:solidFill>
            <a:srgbClr val="0D3349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50">
            <a:extLst>
              <a:ext uri="{FF2B5EF4-FFF2-40B4-BE49-F238E27FC236}">
                <a16:creationId xmlns:a16="http://schemas.microsoft.com/office/drawing/2014/main" id="{590B437F-085A-2E37-92F9-2DA8D0512016}"/>
              </a:ext>
            </a:extLst>
          </p:cNvPr>
          <p:cNvSpPr/>
          <p:nvPr/>
        </p:nvSpPr>
        <p:spPr>
          <a:xfrm>
            <a:off x="457200" y="4407408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Threshold:  np.percentile(scores, 99)  —  top 1% flagged as anomalous</a:t>
            </a:r>
            <a:endParaRPr lang="en-US" sz="1300" dirty="0"/>
          </a:p>
        </p:txBody>
      </p:sp>
      <p:sp>
        <p:nvSpPr>
          <p:cNvPr id="12" name="Text 51">
            <a:extLst>
              <a:ext uri="{FF2B5EF4-FFF2-40B4-BE49-F238E27FC236}">
                <a16:creationId xmlns:a16="http://schemas.microsoft.com/office/drawing/2014/main" id="{6AB10D04-D9B9-FE24-793F-BC9052520C5F}"/>
              </a:ext>
            </a:extLst>
          </p:cNvPr>
          <p:cNvSpPr/>
          <p:nvPr/>
        </p:nvSpPr>
        <p:spPr>
          <a:xfrm>
            <a:off x="457200" y="4709160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distribution: dense low-score normal mass with a sparse anomalous high-score tail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31183327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</a:t>
            </a:r>
            <a:endParaRPr lang="en-US" sz="2600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8012A8C6-BCD5-AD43-73D0-5222A9244D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769076"/>
            <a:ext cx="9144000" cy="36020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A4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5DFE21-1FDE-D91C-F317-73142F8242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F6CFED81-C076-91DA-BB5B-822FD691B78F}"/>
              </a:ext>
            </a:extLst>
          </p:cNvPr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CEF8BBF-105C-DDE6-ED21-115013F58D51}"/>
              </a:ext>
            </a:extLst>
          </p:cNvPr>
          <p:cNvSpPr/>
          <p:nvPr/>
        </p:nvSpPr>
        <p:spPr>
          <a:xfrm>
            <a:off x="320040" y="274320"/>
            <a:ext cx="8503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Calculating and plotting the anomaly scores</a:t>
            </a:r>
            <a:endParaRPr lang="en-US" sz="2800" dirty="0"/>
          </a:p>
        </p:txBody>
      </p:sp>
      <p:sp>
        <p:nvSpPr>
          <p:cNvPr id="10" name="Shape 49">
            <a:extLst>
              <a:ext uri="{FF2B5EF4-FFF2-40B4-BE49-F238E27FC236}">
                <a16:creationId xmlns:a16="http://schemas.microsoft.com/office/drawing/2014/main" id="{57293B8B-4AAA-15D8-FBBC-4BC82E663B8D}"/>
              </a:ext>
            </a:extLst>
          </p:cNvPr>
          <p:cNvSpPr/>
          <p:nvPr/>
        </p:nvSpPr>
        <p:spPr>
          <a:xfrm>
            <a:off x="320040" y="4325112"/>
            <a:ext cx="8503920" cy="621792"/>
          </a:xfrm>
          <a:prstGeom prst="rect">
            <a:avLst/>
          </a:prstGeom>
          <a:solidFill>
            <a:srgbClr val="0D3349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50">
            <a:extLst>
              <a:ext uri="{FF2B5EF4-FFF2-40B4-BE49-F238E27FC236}">
                <a16:creationId xmlns:a16="http://schemas.microsoft.com/office/drawing/2014/main" id="{2A00F603-A526-4DAA-BE8F-B502CA31A200}"/>
              </a:ext>
            </a:extLst>
          </p:cNvPr>
          <p:cNvSpPr/>
          <p:nvPr/>
        </p:nvSpPr>
        <p:spPr>
          <a:xfrm>
            <a:off x="457200" y="4407408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Threshold:  np.percentile(scores, 99)  —  top 1% flagged as anomalous</a:t>
            </a:r>
            <a:endParaRPr lang="en-US" sz="1300" dirty="0"/>
          </a:p>
        </p:txBody>
      </p:sp>
      <p:sp>
        <p:nvSpPr>
          <p:cNvPr id="12" name="Text 51">
            <a:extLst>
              <a:ext uri="{FF2B5EF4-FFF2-40B4-BE49-F238E27FC236}">
                <a16:creationId xmlns:a16="http://schemas.microsoft.com/office/drawing/2014/main" id="{99DD10FB-5409-5A6D-12DA-70E3BEEEF67C}"/>
              </a:ext>
            </a:extLst>
          </p:cNvPr>
          <p:cNvSpPr/>
          <p:nvPr/>
        </p:nvSpPr>
        <p:spPr>
          <a:xfrm>
            <a:off x="457200" y="4709160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distribution: dense low-score normal mass with a sparse anomalous high-score tail</a:t>
            </a:r>
            <a:endParaRPr lang="en-US" sz="105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0541B65-730C-795D-8ABB-4A6C1D57FC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970340"/>
            <a:ext cx="5249496" cy="30363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948754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B3A22B5-F083-1C07-12A9-456069EA76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B194429-0B4C-85A7-6DE5-9FE305EBC132}"/>
              </a:ext>
            </a:extLst>
          </p:cNvPr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63176034-EE91-AC63-A7E5-D8D4627EB673}"/>
              </a:ext>
            </a:extLst>
          </p:cNvPr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Anomaly Profile — What the Model Found</a:t>
            </a:r>
            <a:endParaRPr lang="en-US" sz="26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3B662106-8C2C-C494-6FFA-9A52E28FA1C6}"/>
              </a:ext>
            </a:extLst>
          </p:cNvPr>
          <p:cNvSpPr/>
          <p:nvPr/>
        </p:nvSpPr>
        <p:spPr>
          <a:xfrm>
            <a:off x="457200" y="841248"/>
            <a:ext cx="4663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vs Anomalous Mean Comparison</a:t>
            </a:r>
            <a:endParaRPr lang="en-US" sz="13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10CB5BC0-0421-210E-12DB-51556FE3693C}"/>
              </a:ext>
            </a:extLst>
          </p:cNvPr>
          <p:cNvSpPr/>
          <p:nvPr/>
        </p:nvSpPr>
        <p:spPr>
          <a:xfrm>
            <a:off x="365760" y="1188720"/>
            <a:ext cx="1289304" cy="34747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4F785AD3-89BE-A56C-F582-AFEF5B9533B9}"/>
              </a:ext>
            </a:extLst>
          </p:cNvPr>
          <p:cNvSpPr/>
          <p:nvPr/>
        </p:nvSpPr>
        <p:spPr>
          <a:xfrm>
            <a:off x="420624" y="1207008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</a:t>
            </a:r>
            <a:endParaRPr lang="en-US" sz="1100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873FDA5B-AFBE-00CB-F5D2-4313F35258D6}"/>
              </a:ext>
            </a:extLst>
          </p:cNvPr>
          <p:cNvSpPr/>
          <p:nvPr/>
        </p:nvSpPr>
        <p:spPr>
          <a:xfrm>
            <a:off x="1737360" y="1188720"/>
            <a:ext cx="1243584" cy="34747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E4CDB170-DE68-23A0-A7C9-852A2A916CFC}"/>
              </a:ext>
            </a:extLst>
          </p:cNvPr>
          <p:cNvSpPr/>
          <p:nvPr/>
        </p:nvSpPr>
        <p:spPr>
          <a:xfrm>
            <a:off x="1792224" y="1207008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mean</a:t>
            </a:r>
            <a:endParaRPr lang="en-US" sz="1100" dirty="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5BF63631-6BA1-5486-4C87-EDA05D10F7AC}"/>
              </a:ext>
            </a:extLst>
          </p:cNvPr>
          <p:cNvSpPr/>
          <p:nvPr/>
        </p:nvSpPr>
        <p:spPr>
          <a:xfrm>
            <a:off x="3063240" y="1188720"/>
            <a:ext cx="1197864" cy="34747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6B189B34-2FC8-4A9A-182A-841B99B56F36}"/>
              </a:ext>
            </a:extLst>
          </p:cNvPr>
          <p:cNvSpPr/>
          <p:nvPr/>
        </p:nvSpPr>
        <p:spPr>
          <a:xfrm>
            <a:off x="3118104" y="1207008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mean</a:t>
            </a:r>
            <a:endParaRPr lang="en-US" sz="1100" dirty="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892EABF7-182A-851C-BFE6-A5FCD3CAD8DB}"/>
              </a:ext>
            </a:extLst>
          </p:cNvPr>
          <p:cNvSpPr/>
          <p:nvPr/>
        </p:nvSpPr>
        <p:spPr>
          <a:xfrm>
            <a:off x="4315968" y="1188720"/>
            <a:ext cx="1472184" cy="34747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AC91B6BB-C2F2-2C80-86D7-B2777008D195}"/>
              </a:ext>
            </a:extLst>
          </p:cNvPr>
          <p:cNvSpPr/>
          <p:nvPr/>
        </p:nvSpPr>
        <p:spPr>
          <a:xfrm>
            <a:off x="4370832" y="1207008"/>
            <a:ext cx="1417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</a:t>
            </a:r>
            <a:endParaRPr lang="en-US" sz="1100" dirty="0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FB5AE822-46A8-1EC4-C443-327B14C869F9}"/>
              </a:ext>
            </a:extLst>
          </p:cNvPr>
          <p:cNvSpPr/>
          <p:nvPr/>
        </p:nvSpPr>
        <p:spPr>
          <a:xfrm>
            <a:off x="365760" y="1581912"/>
            <a:ext cx="1289304" cy="402336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BD1039B5-8817-360E-3354-2076C2F3E322}"/>
              </a:ext>
            </a:extLst>
          </p:cNvPr>
          <p:cNvSpPr/>
          <p:nvPr/>
        </p:nvSpPr>
        <p:spPr>
          <a:xfrm>
            <a:off x="420624" y="1627632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billing_rate</a:t>
            </a:r>
            <a:endParaRPr lang="en-US" sz="1100" dirty="0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1348B190-B64A-7F32-3A66-BF4D4CA65B15}"/>
              </a:ext>
            </a:extLst>
          </p:cNvPr>
          <p:cNvSpPr/>
          <p:nvPr/>
        </p:nvSpPr>
        <p:spPr>
          <a:xfrm>
            <a:off x="1737360" y="1581912"/>
            <a:ext cx="1243584" cy="402336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BCA64E0E-ABFC-0D24-9C01-E849DB565779}"/>
              </a:ext>
            </a:extLst>
          </p:cNvPr>
          <p:cNvSpPr/>
          <p:nvPr/>
        </p:nvSpPr>
        <p:spPr>
          <a:xfrm>
            <a:off x="1792224" y="1627632"/>
            <a:ext cx="1188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~0.74</a:t>
            </a:r>
            <a:endParaRPr lang="en-US" sz="1100" dirty="0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76A2A700-66EC-143B-A9C0-E43E3A127666}"/>
              </a:ext>
            </a:extLst>
          </p:cNvPr>
          <p:cNvSpPr/>
          <p:nvPr/>
        </p:nvSpPr>
        <p:spPr>
          <a:xfrm>
            <a:off x="3063240" y="1581912"/>
            <a:ext cx="1197864" cy="402336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3734F182-17B9-4AD3-E404-7D1E34379637}"/>
              </a:ext>
            </a:extLst>
          </p:cNvPr>
          <p:cNvSpPr/>
          <p:nvPr/>
        </p:nvSpPr>
        <p:spPr>
          <a:xfrm>
            <a:off x="3118104" y="1627632"/>
            <a:ext cx="1143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~0.80</a:t>
            </a:r>
            <a:endParaRPr lang="en-US" sz="1100" dirty="0"/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47CCF01D-3BE3-FE7A-40C1-0402B5CB6BCC}"/>
              </a:ext>
            </a:extLst>
          </p:cNvPr>
          <p:cNvSpPr/>
          <p:nvPr/>
        </p:nvSpPr>
        <p:spPr>
          <a:xfrm>
            <a:off x="4315968" y="1581912"/>
            <a:ext cx="1472184" cy="402336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42FC7D60-C736-5FA1-133E-428BDD6EB739}"/>
              </a:ext>
            </a:extLst>
          </p:cNvPr>
          <p:cNvSpPr/>
          <p:nvPr/>
        </p:nvSpPr>
        <p:spPr>
          <a:xfrm>
            <a:off x="4370832" y="1627632"/>
            <a:ext cx="1417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no pattern</a:t>
            </a:r>
            <a:endParaRPr lang="en-US" sz="1100" dirty="0"/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087E81DB-80F8-4AEF-8725-3E4293F76D50}"/>
              </a:ext>
            </a:extLst>
          </p:cNvPr>
          <p:cNvSpPr/>
          <p:nvPr/>
        </p:nvSpPr>
        <p:spPr>
          <a:xfrm>
            <a:off x="365760" y="2039112"/>
            <a:ext cx="1289304" cy="402336"/>
          </a:xfrm>
          <a:prstGeom prst="rect">
            <a:avLst/>
          </a:prstGeom>
          <a:solidFill>
            <a:srgbClr val="FFF5F5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AE8EEB21-FD03-ACE7-3BEA-57821E66DB29}"/>
              </a:ext>
            </a:extLst>
          </p:cNvPr>
          <p:cNvSpPr/>
          <p:nvPr/>
        </p:nvSpPr>
        <p:spPr>
          <a:xfrm>
            <a:off x="420624" y="2084832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efficiency</a:t>
            </a:r>
            <a:endParaRPr lang="en-US" sz="1100" dirty="0"/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7C4A0032-2C3C-3E85-BB7F-E42DD460F36D}"/>
              </a:ext>
            </a:extLst>
          </p:cNvPr>
          <p:cNvSpPr/>
          <p:nvPr/>
        </p:nvSpPr>
        <p:spPr>
          <a:xfrm>
            <a:off x="1737360" y="2039112"/>
            <a:ext cx="1243584" cy="402336"/>
          </a:xfrm>
          <a:prstGeom prst="rect">
            <a:avLst/>
          </a:prstGeom>
          <a:solidFill>
            <a:srgbClr val="FFF5F5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E7EA016A-DD67-31F5-84A6-010B9F09F1D2}"/>
              </a:ext>
            </a:extLst>
          </p:cNvPr>
          <p:cNvSpPr/>
          <p:nvPr/>
        </p:nvSpPr>
        <p:spPr>
          <a:xfrm>
            <a:off x="1792224" y="2084832"/>
            <a:ext cx="1188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~41</a:t>
            </a:r>
            <a:endParaRPr lang="en-US" sz="1100" dirty="0"/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EB4C742A-83A4-F21F-E654-5400D60EA447}"/>
              </a:ext>
            </a:extLst>
          </p:cNvPr>
          <p:cNvSpPr/>
          <p:nvPr/>
        </p:nvSpPr>
        <p:spPr>
          <a:xfrm>
            <a:off x="3063240" y="2039112"/>
            <a:ext cx="1197864" cy="402336"/>
          </a:xfrm>
          <a:prstGeom prst="rect">
            <a:avLst/>
          </a:prstGeom>
          <a:solidFill>
            <a:srgbClr val="FFF5F5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1085EF5D-51C5-B57E-6D89-9CB692C2A7F9}"/>
              </a:ext>
            </a:extLst>
          </p:cNvPr>
          <p:cNvSpPr/>
          <p:nvPr/>
        </p:nvSpPr>
        <p:spPr>
          <a:xfrm>
            <a:off x="3118104" y="2084832"/>
            <a:ext cx="1143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~1183</a:t>
            </a:r>
            <a:endParaRPr lang="en-US" sz="1100" dirty="0"/>
          </a:p>
        </p:txBody>
      </p:sp>
      <p:sp>
        <p:nvSpPr>
          <p:cNvPr id="27" name="Shape 25">
            <a:extLst>
              <a:ext uri="{FF2B5EF4-FFF2-40B4-BE49-F238E27FC236}">
                <a16:creationId xmlns:a16="http://schemas.microsoft.com/office/drawing/2014/main" id="{064C7BFB-B546-8923-EFA9-D524D1552D6E}"/>
              </a:ext>
            </a:extLst>
          </p:cNvPr>
          <p:cNvSpPr/>
          <p:nvPr/>
        </p:nvSpPr>
        <p:spPr>
          <a:xfrm>
            <a:off x="4315968" y="2039112"/>
            <a:ext cx="1472184" cy="402336"/>
          </a:xfrm>
          <a:prstGeom prst="rect">
            <a:avLst/>
          </a:prstGeom>
          <a:solidFill>
            <a:srgbClr val="FFF5F5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8AE60192-CAB1-8639-378E-4F089805C8CD}"/>
              </a:ext>
            </a:extLst>
          </p:cNvPr>
          <p:cNvSpPr/>
          <p:nvPr/>
        </p:nvSpPr>
        <p:spPr>
          <a:xfrm>
            <a:off x="4370832" y="2084832"/>
            <a:ext cx="1417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 High — tampering</a:t>
            </a:r>
            <a:endParaRPr lang="en-US" sz="1100" dirty="0"/>
          </a:p>
        </p:txBody>
      </p:sp>
      <p:sp>
        <p:nvSpPr>
          <p:cNvPr id="29" name="Shape 27">
            <a:extLst>
              <a:ext uri="{FF2B5EF4-FFF2-40B4-BE49-F238E27FC236}">
                <a16:creationId xmlns:a16="http://schemas.microsoft.com/office/drawing/2014/main" id="{E5C491C3-0DBA-CB8A-2565-11CF847B1F83}"/>
              </a:ext>
            </a:extLst>
          </p:cNvPr>
          <p:cNvSpPr/>
          <p:nvPr/>
        </p:nvSpPr>
        <p:spPr>
          <a:xfrm>
            <a:off x="365760" y="2496312"/>
            <a:ext cx="1289304" cy="402336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D3B97845-F9FC-BB19-97C8-E7AA8EF8FE7F}"/>
              </a:ext>
            </a:extLst>
          </p:cNvPr>
          <p:cNvSpPr/>
          <p:nvPr/>
        </p:nvSpPr>
        <p:spPr>
          <a:xfrm>
            <a:off x="420624" y="2542032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time_index</a:t>
            </a:r>
            <a:endParaRPr lang="en-US" sz="1100" dirty="0"/>
          </a:p>
        </p:txBody>
      </p:sp>
      <p:sp>
        <p:nvSpPr>
          <p:cNvPr id="31" name="Shape 29">
            <a:extLst>
              <a:ext uri="{FF2B5EF4-FFF2-40B4-BE49-F238E27FC236}">
                <a16:creationId xmlns:a16="http://schemas.microsoft.com/office/drawing/2014/main" id="{F82BC4EA-3DC2-ECE5-1BFC-06B15BA7668E}"/>
              </a:ext>
            </a:extLst>
          </p:cNvPr>
          <p:cNvSpPr/>
          <p:nvPr/>
        </p:nvSpPr>
        <p:spPr>
          <a:xfrm>
            <a:off x="1737360" y="2496312"/>
            <a:ext cx="1243584" cy="402336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757DECF3-DF72-0B06-AF34-E243CD2EE8AC}"/>
              </a:ext>
            </a:extLst>
          </p:cNvPr>
          <p:cNvSpPr/>
          <p:nvPr/>
        </p:nvSpPr>
        <p:spPr>
          <a:xfrm>
            <a:off x="1792224" y="2542032"/>
            <a:ext cx="1188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</a:t>
            </a:r>
            <a:endParaRPr lang="en-US" sz="1100" dirty="0"/>
          </a:p>
        </p:txBody>
      </p:sp>
      <p:sp>
        <p:nvSpPr>
          <p:cNvPr id="33" name="Shape 31">
            <a:extLst>
              <a:ext uri="{FF2B5EF4-FFF2-40B4-BE49-F238E27FC236}">
                <a16:creationId xmlns:a16="http://schemas.microsoft.com/office/drawing/2014/main" id="{1D6AE899-5627-FB1E-CCA1-9FA586C4ABC2}"/>
              </a:ext>
            </a:extLst>
          </p:cNvPr>
          <p:cNvSpPr/>
          <p:nvPr/>
        </p:nvSpPr>
        <p:spPr>
          <a:xfrm>
            <a:off x="3063240" y="2496312"/>
            <a:ext cx="1197864" cy="402336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26EA325B-442E-26BD-77F4-531111FBE4A9}"/>
              </a:ext>
            </a:extLst>
          </p:cNvPr>
          <p:cNvSpPr/>
          <p:nvPr/>
        </p:nvSpPr>
        <p:spPr>
          <a:xfrm>
            <a:off x="3118104" y="2542032"/>
            <a:ext cx="1143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</a:t>
            </a:r>
            <a:endParaRPr lang="en-US" sz="1100" dirty="0"/>
          </a:p>
        </p:txBody>
      </p:sp>
      <p:sp>
        <p:nvSpPr>
          <p:cNvPr id="35" name="Shape 33">
            <a:extLst>
              <a:ext uri="{FF2B5EF4-FFF2-40B4-BE49-F238E27FC236}">
                <a16:creationId xmlns:a16="http://schemas.microsoft.com/office/drawing/2014/main" id="{8E6CB626-C3CF-6CE5-8253-001EDA6512C1}"/>
              </a:ext>
            </a:extLst>
          </p:cNvPr>
          <p:cNvSpPr/>
          <p:nvPr/>
        </p:nvSpPr>
        <p:spPr>
          <a:xfrm>
            <a:off x="4315968" y="2496312"/>
            <a:ext cx="1472184" cy="402336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>
            <a:extLst>
              <a:ext uri="{FF2B5EF4-FFF2-40B4-BE49-F238E27FC236}">
                <a16:creationId xmlns:a16="http://schemas.microsoft.com/office/drawing/2014/main" id="{1DC43D6D-4880-DBE6-F092-8FDEA2D8BD65}"/>
              </a:ext>
            </a:extLst>
          </p:cNvPr>
          <p:cNvSpPr/>
          <p:nvPr/>
        </p:nvSpPr>
        <p:spPr>
          <a:xfrm>
            <a:off x="4370832" y="2542032"/>
            <a:ext cx="1417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no pattern</a:t>
            </a:r>
            <a:endParaRPr lang="en-US" sz="1100" dirty="0"/>
          </a:p>
        </p:txBody>
      </p:sp>
      <p:sp>
        <p:nvSpPr>
          <p:cNvPr id="37" name="Shape 35">
            <a:extLst>
              <a:ext uri="{FF2B5EF4-FFF2-40B4-BE49-F238E27FC236}">
                <a16:creationId xmlns:a16="http://schemas.microsoft.com/office/drawing/2014/main" id="{4F5794AC-A65E-7C60-056F-720886F26B1D}"/>
              </a:ext>
            </a:extLst>
          </p:cNvPr>
          <p:cNvSpPr/>
          <p:nvPr/>
        </p:nvSpPr>
        <p:spPr>
          <a:xfrm>
            <a:off x="365760" y="2953512"/>
            <a:ext cx="1289304" cy="402336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>
            <a:extLst>
              <a:ext uri="{FF2B5EF4-FFF2-40B4-BE49-F238E27FC236}">
                <a16:creationId xmlns:a16="http://schemas.microsoft.com/office/drawing/2014/main" id="{08FF728B-C7D8-28AC-306F-080A15BC6CA3}"/>
              </a:ext>
            </a:extLst>
          </p:cNvPr>
          <p:cNvSpPr/>
          <p:nvPr/>
        </p:nvSpPr>
        <p:spPr>
          <a:xfrm>
            <a:off x="420624" y="2999232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areas</a:t>
            </a:r>
            <a:endParaRPr lang="en-US" sz="1100" dirty="0"/>
          </a:p>
        </p:txBody>
      </p:sp>
      <p:sp>
        <p:nvSpPr>
          <p:cNvPr id="39" name="Shape 37">
            <a:extLst>
              <a:ext uri="{FF2B5EF4-FFF2-40B4-BE49-F238E27FC236}">
                <a16:creationId xmlns:a16="http://schemas.microsoft.com/office/drawing/2014/main" id="{CA5CA9FF-AAD9-1F95-E1AE-47D9AA57C15B}"/>
              </a:ext>
            </a:extLst>
          </p:cNvPr>
          <p:cNvSpPr/>
          <p:nvPr/>
        </p:nvSpPr>
        <p:spPr>
          <a:xfrm>
            <a:off x="1737360" y="2953512"/>
            <a:ext cx="1243584" cy="402336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AB992B1D-69CC-C02F-1014-FD0625C1EDD4}"/>
              </a:ext>
            </a:extLst>
          </p:cNvPr>
          <p:cNvSpPr/>
          <p:nvPr/>
        </p:nvSpPr>
        <p:spPr>
          <a:xfrm>
            <a:off x="1792224" y="2999232"/>
            <a:ext cx="1188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~0.03</a:t>
            </a:r>
            <a:endParaRPr lang="en-US" sz="1100" dirty="0"/>
          </a:p>
        </p:txBody>
      </p:sp>
      <p:sp>
        <p:nvSpPr>
          <p:cNvPr id="41" name="Shape 39">
            <a:extLst>
              <a:ext uri="{FF2B5EF4-FFF2-40B4-BE49-F238E27FC236}">
                <a16:creationId xmlns:a16="http://schemas.microsoft.com/office/drawing/2014/main" id="{1F312746-6448-0297-5D9D-2AD01C693423}"/>
              </a:ext>
            </a:extLst>
          </p:cNvPr>
          <p:cNvSpPr/>
          <p:nvPr/>
        </p:nvSpPr>
        <p:spPr>
          <a:xfrm>
            <a:off x="3063240" y="2953512"/>
            <a:ext cx="1197864" cy="402336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>
            <a:extLst>
              <a:ext uri="{FF2B5EF4-FFF2-40B4-BE49-F238E27FC236}">
                <a16:creationId xmlns:a16="http://schemas.microsoft.com/office/drawing/2014/main" id="{0C6A9EAF-6B21-C8A9-A426-CA618CF0F3B3}"/>
              </a:ext>
            </a:extLst>
          </p:cNvPr>
          <p:cNvSpPr/>
          <p:nvPr/>
        </p:nvSpPr>
        <p:spPr>
          <a:xfrm>
            <a:off x="3118104" y="2999232"/>
            <a:ext cx="1143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~0.02</a:t>
            </a:r>
            <a:endParaRPr lang="en-US" sz="1100" dirty="0"/>
          </a:p>
        </p:txBody>
      </p:sp>
      <p:sp>
        <p:nvSpPr>
          <p:cNvPr id="43" name="Shape 41">
            <a:extLst>
              <a:ext uri="{FF2B5EF4-FFF2-40B4-BE49-F238E27FC236}">
                <a16:creationId xmlns:a16="http://schemas.microsoft.com/office/drawing/2014/main" id="{02C46CAF-81BA-E678-19B0-37D4EBB113BD}"/>
              </a:ext>
            </a:extLst>
          </p:cNvPr>
          <p:cNvSpPr/>
          <p:nvPr/>
        </p:nvSpPr>
        <p:spPr>
          <a:xfrm>
            <a:off x="4315968" y="2953512"/>
            <a:ext cx="1472184" cy="402336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>
            <a:extLst>
              <a:ext uri="{FF2B5EF4-FFF2-40B4-BE49-F238E27FC236}">
                <a16:creationId xmlns:a16="http://schemas.microsoft.com/office/drawing/2014/main" id="{C5A3B367-EA53-AE28-373C-658BFA3DFAA3}"/>
              </a:ext>
            </a:extLst>
          </p:cNvPr>
          <p:cNvSpPr/>
          <p:nvPr/>
        </p:nvSpPr>
        <p:spPr>
          <a:xfrm>
            <a:off x="4370832" y="2999232"/>
            <a:ext cx="1417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no pattern</a:t>
            </a:r>
            <a:endParaRPr lang="en-US" sz="1100" dirty="0"/>
          </a:p>
        </p:txBody>
      </p:sp>
      <p:sp>
        <p:nvSpPr>
          <p:cNvPr id="45" name="Shape 43">
            <a:extLst>
              <a:ext uri="{FF2B5EF4-FFF2-40B4-BE49-F238E27FC236}">
                <a16:creationId xmlns:a16="http://schemas.microsoft.com/office/drawing/2014/main" id="{6F6C1C5E-A591-B762-3ED3-7C21453238FF}"/>
              </a:ext>
            </a:extLst>
          </p:cNvPr>
          <p:cNvSpPr/>
          <p:nvPr/>
        </p:nvSpPr>
        <p:spPr>
          <a:xfrm>
            <a:off x="6080760" y="841248"/>
            <a:ext cx="274320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4">
            <a:extLst>
              <a:ext uri="{FF2B5EF4-FFF2-40B4-BE49-F238E27FC236}">
                <a16:creationId xmlns:a16="http://schemas.microsoft.com/office/drawing/2014/main" id="{AD8BDACE-12DF-2BAD-A6A6-AA4DCE3C6B81}"/>
              </a:ext>
            </a:extLst>
          </p:cNvPr>
          <p:cNvSpPr/>
          <p:nvPr/>
        </p:nvSpPr>
        <p:spPr>
          <a:xfrm>
            <a:off x="6080760" y="841248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Interpretation</a:t>
            </a:r>
            <a:endParaRPr lang="en-US" sz="1300" dirty="0"/>
          </a:p>
        </p:txBody>
      </p:sp>
      <p:sp>
        <p:nvSpPr>
          <p:cNvPr id="47" name="Shape 45">
            <a:extLst>
              <a:ext uri="{FF2B5EF4-FFF2-40B4-BE49-F238E27FC236}">
                <a16:creationId xmlns:a16="http://schemas.microsoft.com/office/drawing/2014/main" id="{EC195C5E-4AAB-4B01-3B41-3368CF6CF5E4}"/>
              </a:ext>
            </a:extLst>
          </p:cNvPr>
          <p:cNvSpPr/>
          <p:nvPr/>
        </p:nvSpPr>
        <p:spPr>
          <a:xfrm>
            <a:off x="6080760" y="1188720"/>
            <a:ext cx="2743200" cy="3246120"/>
          </a:xfrm>
          <a:prstGeom prst="rect">
            <a:avLst/>
          </a:prstGeom>
          <a:solidFill>
            <a:srgbClr val="FFF5F5"/>
          </a:solidFill>
          <a:ln w="12700">
            <a:solidFill>
              <a:srgbClr val="FCA5A5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8" name="Shape 46">
            <a:extLst>
              <a:ext uri="{FF2B5EF4-FFF2-40B4-BE49-F238E27FC236}">
                <a16:creationId xmlns:a16="http://schemas.microsoft.com/office/drawing/2014/main" id="{ADFC423B-76D7-A3E0-C6C3-12F3ACF06012}"/>
              </a:ext>
            </a:extLst>
          </p:cNvPr>
          <p:cNvSpPr/>
          <p:nvPr/>
        </p:nvSpPr>
        <p:spPr>
          <a:xfrm>
            <a:off x="6080760" y="1188720"/>
            <a:ext cx="73152" cy="324612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7">
            <a:extLst>
              <a:ext uri="{FF2B5EF4-FFF2-40B4-BE49-F238E27FC236}">
                <a16:creationId xmlns:a16="http://schemas.microsoft.com/office/drawing/2014/main" id="{61A6D19A-856D-55CD-5C70-A4240F597129}"/>
              </a:ext>
            </a:extLst>
          </p:cNvPr>
          <p:cNvSpPr/>
          <p:nvPr/>
        </p:nvSpPr>
        <p:spPr>
          <a:xfrm>
            <a:off x="6263640" y="1261872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99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Meter Tampering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99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 Bypass</a:t>
            </a:r>
            <a:endParaRPr lang="en-US" sz="1400" dirty="0"/>
          </a:p>
        </p:txBody>
      </p:sp>
      <p:sp>
        <p:nvSpPr>
          <p:cNvPr id="50" name="Text 48">
            <a:extLst>
              <a:ext uri="{FF2B5EF4-FFF2-40B4-BE49-F238E27FC236}">
                <a16:creationId xmlns:a16="http://schemas.microsoft.com/office/drawing/2014/main" id="{7F93CD09-E419-043D-A058-D68B9BAF8580}"/>
              </a:ext>
            </a:extLst>
          </p:cNvPr>
          <p:cNvSpPr/>
          <p:nvPr/>
        </p:nvSpPr>
        <p:spPr>
          <a:xfrm>
            <a:off x="6263640" y="1828800"/>
            <a:ext cx="2450592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SG" sz="1100" b="1" dirty="0">
                <a:solidFill>
                  <a:srgbClr val="C00000"/>
                </a:solidFill>
              </a:rPr>
              <a:t>Extreme</a:t>
            </a:r>
            <a:r>
              <a:rPr lang="en-SG" sz="1100" dirty="0"/>
              <a:t> efficiency spike — anomalies show ~29x higher units-per-load than normal records (efficiency ↑ 2805%)</a:t>
            </a: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r>
              <a:rPr lang="en-SG" sz="1100" b="1" dirty="0">
                <a:solidFill>
                  <a:srgbClr val="C00000"/>
                </a:solidFill>
              </a:rPr>
              <a:t>No separation</a:t>
            </a:r>
            <a:r>
              <a:rPr lang="en-SG" sz="1100" dirty="0">
                <a:solidFill>
                  <a:srgbClr val="C00000"/>
                </a:solidFill>
              </a:rPr>
              <a:t> </a:t>
            </a:r>
            <a:r>
              <a:rPr lang="en-SG" sz="1100" dirty="0"/>
              <a:t>in </a:t>
            </a:r>
            <a:r>
              <a:rPr lang="en-SG" sz="1100" dirty="0" err="1"/>
              <a:t>billing_rate</a:t>
            </a:r>
            <a:r>
              <a:rPr lang="en-SG" sz="1100" dirty="0"/>
              <a:t>, areas, or </a:t>
            </a:r>
            <a:r>
              <a:rPr lang="en-SG" sz="1100" dirty="0" err="1"/>
              <a:t>time_index</a:t>
            </a:r>
            <a:r>
              <a:rPr lang="en-SG" sz="1100" dirty="0"/>
              <a:t> — under-billing is not a contributing signal in this run</a:t>
            </a: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r>
              <a:rPr lang="en-SG" sz="1100" dirty="0"/>
              <a:t>Meter is reporting </a:t>
            </a:r>
            <a:r>
              <a:rPr lang="en-SG" sz="1100" b="1" dirty="0">
                <a:solidFill>
                  <a:srgbClr val="C00000"/>
                </a:solidFill>
              </a:rPr>
              <a:t>load far too low relative to actual consumption</a:t>
            </a:r>
            <a:r>
              <a:rPr lang="en-SG" sz="1100" dirty="0">
                <a:solidFill>
                  <a:srgbClr val="C00000"/>
                </a:solidFill>
              </a:rPr>
              <a:t> </a:t>
            </a:r>
            <a:r>
              <a:rPr lang="en-SG" sz="1100" dirty="0"/>
              <a:t>— consistent with a stuck, bypassed, or under-reporting load sensor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48312888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201168"/>
            <a:ext cx="8503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 Cases — ODIF Pipeline Generalisability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20040" y="868680"/>
            <a:ext cx="2834640" cy="3794760"/>
          </a:xfrm>
          <a:prstGeom prst="rect">
            <a:avLst/>
          </a:prstGeom>
          <a:solidFill>
            <a:srgbClr val="0D2F4E"/>
          </a:solidFill>
          <a:ln w="1905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325880" y="960120"/>
            <a:ext cx="822960" cy="82296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325880" y="969264"/>
            <a:ext cx="822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822960" y="1883664"/>
            <a:ext cx="1828800" cy="2743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22960" y="1901952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USE CASE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2212848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Electricity Theft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84632" y="2651760"/>
            <a:ext cx="248716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 meter tampering.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84632" y="3502152"/>
            <a:ext cx="2487168" cy="587108"/>
          </a:xfrm>
          <a:prstGeom prst="rect">
            <a:avLst/>
          </a:prstGeom>
          <a:solidFill>
            <a:srgbClr val="1A3A5C"/>
          </a:solidFill>
          <a:ln w="6350">
            <a:solidFill>
              <a:srgbClr val="2A4A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76072" y="3577196"/>
            <a:ext cx="23042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consumption · Low billing rate · High efficiency ratio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264408" y="868680"/>
            <a:ext cx="2834640" cy="3794760"/>
          </a:xfrm>
          <a:prstGeom prst="rect">
            <a:avLst/>
          </a:prstGeom>
          <a:solidFill>
            <a:srgbClr val="112240"/>
          </a:solidFill>
          <a:ln w="12700">
            <a:solidFill>
              <a:srgbClr val="2A4A6C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270248" y="960120"/>
            <a:ext cx="822960" cy="822960"/>
          </a:xfrm>
          <a:prstGeom prst="ellipse">
            <a:avLst/>
          </a:prstGeom>
          <a:solidFill>
            <a:srgbClr val="1A3A5C"/>
          </a:solidFill>
          <a:ln w="12700">
            <a:solidFill>
              <a:srgbClr val="2A4A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270248" y="969264"/>
            <a:ext cx="822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3401568" y="1883664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Faulty Equipment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429000" y="2331720"/>
            <a:ext cx="248716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Machines consuming abnormal power relative to rated load.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429000" y="3474720"/>
            <a:ext cx="2487168" cy="621792"/>
          </a:xfrm>
          <a:prstGeom prst="rect">
            <a:avLst/>
          </a:prstGeom>
          <a:solidFill>
            <a:srgbClr val="1A3A5C"/>
          </a:solidFill>
          <a:ln w="6350">
            <a:solidFill>
              <a:srgbClr val="2A4A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3520440" y="3584448"/>
            <a:ext cx="23042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Distinguishable from theft via geographic context (industrial vs residential)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208776" y="868680"/>
            <a:ext cx="2834640" cy="3794760"/>
          </a:xfrm>
          <a:prstGeom prst="rect">
            <a:avLst/>
          </a:prstGeom>
          <a:solidFill>
            <a:srgbClr val="112240"/>
          </a:solidFill>
          <a:ln w="12700">
            <a:solidFill>
              <a:srgbClr val="2A4A6C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7214616" y="960120"/>
            <a:ext cx="822960" cy="822960"/>
          </a:xfrm>
          <a:prstGeom prst="ellipse">
            <a:avLst/>
          </a:prstGeom>
          <a:solidFill>
            <a:srgbClr val="1A3A5C"/>
          </a:solidFill>
          <a:ln w="12700">
            <a:solidFill>
              <a:srgbClr val="2A4A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7214616" y="969264"/>
            <a:ext cx="822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6345936" y="1883664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Predictive Maintenance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373368" y="2331720"/>
            <a:ext cx="248716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Anomalous patterns often precede equipment failures: overheating, motor wear, bearing failures.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373368" y="3474720"/>
            <a:ext cx="2487168" cy="621792"/>
          </a:xfrm>
          <a:prstGeom prst="rect">
            <a:avLst/>
          </a:prstGeom>
          <a:solidFill>
            <a:srgbClr val="1A3A5C"/>
          </a:solidFill>
          <a:ln w="6350">
            <a:solidFill>
              <a:srgbClr val="2A4A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6464808" y="3584448"/>
            <a:ext cx="23042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detection reduces downtime and repair cost before failure occurs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272</TotalTime>
  <Words>2145</Words>
  <Application>Microsoft Macintosh PowerPoint</Application>
  <PresentationFormat>On-screen Show (16:9)</PresentationFormat>
  <Paragraphs>342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3" baseType="lpstr">
      <vt:lpstr>Arial</vt:lpstr>
      <vt:lpstr>Calibri</vt:lpstr>
      <vt:lpstr>Cambria</vt:lpstr>
      <vt:lpstr>Consolas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Training Review — Deep Isolation Forest</dc:title>
  <dc:subject>PptxGenJS Presentation</dc:subject>
  <dc:creator>PptxGenJS</dc:creator>
  <cp:lastModifiedBy>Aman Jalan</cp:lastModifiedBy>
  <cp:revision>5</cp:revision>
  <dcterms:created xsi:type="dcterms:W3CDTF">2026-05-22T14:05:53Z</dcterms:created>
  <dcterms:modified xsi:type="dcterms:W3CDTF">2026-06-22T08:57:50Z</dcterms:modified>
</cp:coreProperties>
</file>
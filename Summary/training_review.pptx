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3" r:id="rId20"/>
    <p:sldId id="274" r:id="rId21"/>
    <p:sldId id="275" r:id="rId22"/>
    <p:sldId id="276" r:id="rId23"/>
    <p:sldId id="279" r:id="rId24"/>
    <p:sldId id="277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>
        <p:scale>
          <a:sx n="148" d="100"/>
          <a:sy n="148" d="100"/>
        </p:scale>
        <p:origin x="50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562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2D9CA-40DF-F261-3E9F-4861AFC23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A1E3C-C26C-EB49-2C4A-9525F4C97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2038E-4C91-FA44-1C74-DBD2EE3A7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4158-ACAE-0B98-AAD7-46DA467E33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11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3E05A-E461-BD06-FB4F-3703B03A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BC76B-D652-0216-8AA7-8EE1407167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FA616-A654-0598-8399-48B166DB5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217B-664E-758F-1061-B6768326DF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1635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20040" y="2514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Isolation Forest (DIF)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32461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axis-parallel cuts to non-linear projections via random neural networks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Anomaly Detection?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</a:t>
            </a: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abnormality score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data object — </a:t>
            </a:r>
            <a:r>
              <a:rPr lang="en-US" sz="125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required (unsupervised learning)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points that deviate structurally from the majority, not just statistically (Anomalies).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39319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Function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3017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: D → ℝᴿ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3502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{o₁, …, oₙ}   ·   Higher score = more anomalous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Electricity Theft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6550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abnormal consumption patterns in metered data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24028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23317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Fraud Detection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26609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irregular financial transactions in real time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46120"/>
            <a:ext cx="4023360" cy="8961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33375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Fault Diagnosis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6667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sensor anomalies in industrial systems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— Standard Isolation Forest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Intuition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are rare and different — they require fewer random splits to isolate than normal points surrounded by similar neighbours. Shorter path through the tree → more anomalous.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933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iTree Construction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subsample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initialises root node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random feature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and random split threshold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≤ η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o⁽ʲ⁾ &gt; η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leaf size = 1 or max depth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777240"/>
            <a:ext cx="3886200" cy="1508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86868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83480" y="1170432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F(o|T) = 2⁻ ᴹ[|p(o|τ)|] / C(n)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64592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|p(o|τ)| = path length in tree 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C(n) = normalising constant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path → higher score → more anomalous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0" y="2395728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2743200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2807208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Linear time complexity O(N)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3346704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3410712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distributional assumptions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3950208"/>
            <a:ext cx="3886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4014216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Scales to large, high-dimensional datasets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Core Problems with iForest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160520" cy="36576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16052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</a:t>
            </a: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False Negatives (Hard Anomalies)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886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 is axis-parallel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random feature per split.
Anomalies detectable only through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combinations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be isolated by horizontal or vertical cuts alone.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failure case: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anomalies surrounded by a ring of normal points. No single feature separates them — iForest assigns a normal score.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3886200" cy="530352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 surrounded by ○○○  →  axis-parallel cuts cannot isolate 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41248"/>
            <a:ext cx="4160520" cy="3657600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60520" cy="43891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73168" y="89611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— Ghost Regions / Algorithmic Bias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1371600"/>
            <a:ext cx="3886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splits create artefact regions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empty areas of the data space.
Rectangular zones near clusters receive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unexpectedly low anomaly scores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despite containing no samples. The partitioning treats them as ‘normal’.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EIF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(random hyperplanes) partially reduces ghost regions but remains linear — non-linear anomaly boundaries still defeat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3840480"/>
            <a:ext cx="3886200" cy="530352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19472" y="39136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Rectangular partitions → dead zones → false sense of normality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— The Key Insight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914400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cannot separate anomalies with linear cuts in the original space,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the data into new spaces where you can.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057400"/>
            <a:ext cx="274320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Space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inseparable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linear cut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90672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64408" y="2057400"/>
            <a:ext cx="274320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NN Projection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Randomly-initialised 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data non-linearly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487168"/>
            <a:ext cx="18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08776" y="2057400"/>
            <a:ext cx="2743200" cy="1417320"/>
          </a:xfrm>
          <a:prstGeom prst="rect">
            <a:avLst/>
          </a:prstGeom>
          <a:solidFill>
            <a:srgbClr val="0F4C35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0216" y="2148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Space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0216" y="25786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 iForest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works cleanly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8503920" cy="658368"/>
          </a:xfrm>
          <a:prstGeom prst="rect">
            <a:avLst/>
          </a:prstGeom>
          <a:solidFill>
            <a:srgbClr val="0D3349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cut in projected space  =  Non-linear cut in original space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" y="45262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are randomly initialized, not trained. We prefer diversity over optimisation.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 Algorithm — Three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Representation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8912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randomly initialised NNs φ₁…φᵣ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maps all data → ℝᵈ projected space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weights → diverse views of data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G(D) = { Xᵤ | Xᵤ = φᵤ(D; θᵤ) }ᵐᵘ⁽ᵤ⁼₁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18688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0248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70248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355848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iTrees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Spaces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93008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83280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0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isolation trees per representation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74720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axis-parallel splits in Xᵤ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0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trees T = r × 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83280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0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cut in Xᵤ ≡ non-linear in original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822960"/>
            <a:ext cx="2834640" cy="397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214616" y="8686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214616" y="86868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300216" y="1673352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DEAS Scoring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(Deviation-Enhanced)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37376" y="2377440"/>
            <a:ext cx="2286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27648" y="248716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19088" y="25420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depth score with split deviation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27648" y="303580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30906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deviation → dense region → penalised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27648" y="358444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19088" y="36393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deviation → sparse region → amplified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27648" y="4133088"/>
            <a:ext cx="2514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19088" y="418795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depth term × deviation term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 — Computation-Efficient Representation Ensemble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886968"/>
            <a:ext cx="7955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 separate networks run sequentially → cost scales linearly with r. CERE computes all r representations in a single batched operation.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CERE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ensemble member i shares a base matrix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W₀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further diversified by two small random vectors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∈ ℝᵐ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qᵢ ∈ ℝⁿ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
</a:t>
            </a: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Wᵢ  =  W₀ ∘ (pᵢ qᵢᵀ)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∘ = element-wise Hadamard product
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 representations are computed as a single parallel batch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≈ one forward pass regardless of 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508760"/>
            <a:ext cx="3886200" cy="20939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37760" y="3116291"/>
            <a:ext cx="3611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37760" y="3207731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representations ≈ cost of 1 forward pass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320540"/>
            <a:ext cx="82296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438454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complexity: O(N · D · r · t) — linear in data size N, dimensionality D, and ensemble size. Inherits iForest’s scalability.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3C5F45B-E0C0-2C01-FFAE-4B6FB603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714" y="1799711"/>
            <a:ext cx="3695411" cy="1030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DEAS — Deviation-Enhanced Anomaly Scoring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Deviation Degree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6583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split k along the path, measures how far the data point deviates from the split threshold ηₖ. Averaged across all splits encountered.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2011680" cy="1463040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g(x)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Dense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suppressed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651760"/>
            <a:ext cx="2011680" cy="1463040"/>
          </a:xfrm>
          <a:prstGeom prst="rect">
            <a:avLst/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974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g(x)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97480" y="3072384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from threshold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Sparse / isolated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amplified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8412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DEAS Score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9319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8348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term   ×   Deviation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46320" y="26060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achieves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44368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iForest path length does not account for density context. DEAS adds spatial awareness: points consistently near split boundaries live in crowded regions and get reduced; points far from boundaries inhabit sparse, genuinely anomalous space and get amplified.</a:t>
            </a:r>
            <a:endParaRPr lang="en-US" sz="11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F2E2F32-059B-A963-3D2E-C2B5798C2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752" y="1425822"/>
            <a:ext cx="3530608" cy="348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851B572-D9E8-3A8B-D55B-EA1EFB4F1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494" y="1261872"/>
            <a:ext cx="2963092" cy="5497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Random (Not Trained) Representations?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counterintuitive design choice — and the most important.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5272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5272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28016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are not universal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optimised for one dataset’s anomaly structure is a poor fit for another. There is no single supervised objective that generalises across diverse anomaly types — trained representations are inherently dataset-biased.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1298448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670048"/>
            <a:ext cx="402336" cy="40233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70048"/>
            <a:ext cx="4023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kills diversity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3081528"/>
            <a:ext cx="3840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scoring works because the ensemble covers many different views. Optimising all representations toward the same objective causes convergence — the ensemble collapses into a single view, destroying the benefit of ensembling entirely.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 works instead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9472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projections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19472" y="1938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random weights fold the data space differently — no two networks produce the same view.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578608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5786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19472" y="26517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activations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919472" y="29626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ReLU, Tanh etc. bend space even without training — creating genuinely non-linear transformation surfaces.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02736"/>
            <a:ext cx="402336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3602736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9472" y="367588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through ensemble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919472" y="39867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anomalies inseparable in original space are isolated in at least some projected spaces; averaging surfaces them.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 vs iForest vs EIF — What Changed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96112"/>
            <a:ext cx="283464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2788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896112"/>
            <a:ext cx="164592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91840" y="914400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iForest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83480" y="896112"/>
            <a:ext cx="155448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91440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29400" y="896112"/>
            <a:ext cx="228600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91440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344168"/>
            <a:ext cx="283464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4048" y="1371600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type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344168"/>
            <a:ext cx="164592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0128" y="1371600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Axis-parallel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83480" y="1344168"/>
            <a:ext cx="155448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47488" y="1371600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Oblique linear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29400" y="1344168"/>
            <a:ext cx="228600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93408" y="1371600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(NN proj.)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002536"/>
            <a:ext cx="283464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4048" y="2029968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region bias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002536"/>
            <a:ext cx="164592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0128" y="2029968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Severe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83480" y="2002536"/>
            <a:ext cx="155448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47488" y="2029968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Partial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2002536"/>
            <a:ext cx="228600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93408" y="2029968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Eliminated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2660904"/>
            <a:ext cx="283464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4048" y="2688336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anomaly detection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2660904"/>
            <a:ext cx="164592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0128" y="2688336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Misses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83480" y="2660904"/>
            <a:ext cx="155448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47488" y="2688336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Partial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29400" y="2660904"/>
            <a:ext cx="2286000" cy="603504"/>
          </a:xfrm>
          <a:prstGeom prst="rect">
            <a:avLst/>
          </a:prstGeom>
          <a:solidFill>
            <a:srgbClr val="183558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93408" y="2688336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Exposed via proj.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3319272"/>
            <a:ext cx="283464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84048" y="3346704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 data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46120" y="3319272"/>
            <a:ext cx="164592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10128" y="3346704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Scales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83480" y="3319272"/>
            <a:ext cx="155448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47488" y="3346704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OOM risk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629400" y="3319272"/>
            <a:ext cx="2286000" cy="603504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693408" y="3346704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Projects to small 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0040" y="3977640"/>
            <a:ext cx="283464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84048" y="4005072"/>
            <a:ext cx="27706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3977640"/>
            <a:ext cx="164592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10128" y="4005072"/>
            <a:ext cx="15819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linear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983480" y="3977640"/>
            <a:ext cx="155448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047488" y="4005072"/>
            <a:ext cx="1490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linear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629400" y="3977640"/>
            <a:ext cx="2286000" cy="603504"/>
          </a:xfrm>
          <a:prstGeom prst="rect">
            <a:avLst/>
          </a:prstGeom>
          <a:solidFill>
            <a:srgbClr val="1E3D62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693408" y="4005072"/>
            <a:ext cx="2221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via CERE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2801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9164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Optimised Deep Isolation Forest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20040" y="2487168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321868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detection quality. Fraction of the compute.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3931920"/>
            <a:ext cx="4754880" cy="502920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95928"/>
            <a:ext cx="4480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logic · DEAS scoring · CERE — all unchanged. Only the training phase is restructured.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DIF’s Training Phase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 does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114800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6928" y="1362456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62456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37160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all N samples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45920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dataset passes through CERE into r representations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11226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112264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121408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all representations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2395728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O(Nrb) memory consumed before any trees are built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86207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862072"/>
            <a:ext cx="34747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28712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 at tree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3145536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r×t trees draws n samples from the already-stored data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58768"/>
            <a:ext cx="411480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Each tree uses only n = 256 samples. The other N − n transforms are computed and stored for nothing.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86868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234440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training samples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12801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1618488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100,000)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039112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2103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used per tree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208483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2423160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(default: 256)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43784"/>
            <a:ext cx="388620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9077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samples needed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237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× 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83480" y="3227832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100 × 256 = 25,600)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3648456"/>
            <a:ext cx="3886200" cy="68580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83480" y="37124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transformations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36941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− tn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983480" y="4032504"/>
            <a:ext cx="3611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~74,400 in this example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— Sample First, Transform Second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8408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all needed indices upfront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n total indices selected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95728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96312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96312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54680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54680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87752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unique indices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sample transformed at most once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72584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72584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30952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30952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64024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64024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CERE to reduced subset only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 the full N dataset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48272" y="1783080"/>
            <a:ext cx="1097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48856" y="841248"/>
            <a:ext cx="2057400" cy="2423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48856" y="841248"/>
            <a:ext cx="20574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507224" y="96012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07224" y="960120"/>
            <a:ext cx="731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40296" y="178308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Trees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0296" y="214884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pre-sampled data to each tree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re-sampling at construction time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9317" y="336593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Comparison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49317" y="3731696"/>
            <a:ext cx="21945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95037" y="3749984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35317" y="3731696"/>
            <a:ext cx="24688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781037" y="374998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Complexity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5637" y="3731696"/>
            <a:ext cx="192024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41357" y="3749984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(reprs.)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307317" y="3731696"/>
            <a:ext cx="1645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353037" y="374998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variable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9317" y="4124888"/>
            <a:ext cx="219456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22469" y="415232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735317" y="4124888"/>
            <a:ext cx="246888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808469" y="4152320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O(Nar + rt·log n)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295637" y="4124888"/>
            <a:ext cx="192024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368789" y="4152320"/>
            <a:ext cx="1847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O(Nrb)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307317" y="4124888"/>
            <a:ext cx="1645920" cy="36576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380469" y="415232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full dataset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49317" y="4536368"/>
            <a:ext cx="219456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22469" y="4563800"/>
            <a:ext cx="2121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2735317" y="4536368"/>
            <a:ext cx="246888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08469" y="4563800"/>
            <a:ext cx="23957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O(tnar + rt·log n)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295637" y="4536368"/>
            <a:ext cx="192024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368789" y="4563800"/>
            <a:ext cx="1847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O(tnrb)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307317" y="4536368"/>
            <a:ext cx="1645920" cy="365760"/>
          </a:xfrm>
          <a:prstGeom prst="rect">
            <a:avLst/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380469" y="456380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≪ N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48655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large datasets where N ≫ tn, the reduction is substantial — only samples that will actually be used are ever transformed.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Results — 18 Real-World Datasets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458200" cy="1097280"/>
          </a:xfrm>
          <a:prstGeom prst="rect">
            <a:avLst/>
          </a:prstGeom>
          <a:solidFill>
            <a:srgbClr val="112240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73152" cy="10972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3268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 (PR AUC)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= DIF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60320" y="13533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0.52  —  statistically indistinguishable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6576" cy="914400"/>
          </a:xfrm>
          <a:prstGeom prst="rect">
            <a:avLst/>
          </a:prstGeom>
          <a:solidFill>
            <a:srgbClr val="2A4A6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87568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significantly outperform iForest, ECOD, SGAE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87568" y="13716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20040" y="2103120"/>
            <a:ext cx="4160520" cy="228600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73152" cy="2286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17627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Speed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542032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261518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17320" y="2542032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~1.5×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651760" y="2670048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 average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several-fold on large datasets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38144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51129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3438144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~150×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651760" y="356616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 vs ~2,600 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training run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2103120"/>
            <a:ext cx="4160520" cy="228600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2103120"/>
            <a:ext cx="73152" cy="2286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Reduction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2542032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26151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06440" y="254203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132320" y="28072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on average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3438144"/>
            <a:ext cx="3794760" cy="82296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355228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06440" y="3438144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~55%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32320" y="3703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on average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0040" y="4617720"/>
            <a:ext cx="8458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preserved — only training efficiency changes. ODIF is a strict improvement over DIF.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18872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6002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ODIF Applied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23317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 on NPDCL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0040" y="2834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9F6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Consumption Data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342900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Power Distribution Company of Telangana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3977640"/>
            <a:ext cx="8458200" cy="566928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4050792"/>
            <a:ext cx="8183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identify meter tampering, illegal connections, and faulty equipment via unsupervised anomaly scoring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 — NPDCL Electricity Consumption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169164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841248"/>
            <a:ext cx="16276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Group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822960"/>
            <a:ext cx="333756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12848" y="841248"/>
            <a:ext cx="3273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822960"/>
            <a:ext cx="324612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41848" y="841248"/>
            <a:ext cx="3182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234440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1280160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mapping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840" y="1234440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12848" y="1280160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Circle, Division, SubDivision,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Section, Area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234440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41848" y="1280160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of location — high mutual association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984248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2029968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48840" y="1984248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12848" y="2029968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TotServices, BilledServices,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Units, 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984248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41848" y="2029968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signal columns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734056"/>
            <a:ext cx="169164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9768" y="2779776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48840" y="2734056"/>
            <a:ext cx="333756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212848" y="2779776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month, month_name,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2734056"/>
            <a:ext cx="3246120" cy="6949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41848" y="2779776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encodings — collapsed to time_index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483864"/>
            <a:ext cx="169164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9768" y="3529584"/>
            <a:ext cx="16093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48840" y="3483864"/>
            <a:ext cx="33375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12848" y="3529584"/>
            <a:ext cx="3255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CatCode, CatDesc, resource_id,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resource_title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77840" y="3483864"/>
            <a:ext cx="32461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41848" y="3529584"/>
            <a:ext cx="31638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variance / pure ID columns — dropped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32511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2019 used as representative EDA sample. Extended to 3 sampled files (Jan 2019, May 2022, Dec 2025) before committing to the full dataset.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8412480" cy="1261872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73152" cy="12618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12064" y="91440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2064" y="914400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93268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Zero-Variance 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61872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CatCode (always 7), year, month, CatDesc, month_name, timestamp, resource_id, resource_title showed zero variance within and across all sampled files.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discriminating signal — flagged for immediate removal.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932688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0" y="996696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df['CatCode'].value_counts()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Returns: {7: 7105}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Single value across all rows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BF0"/>
          </a:solidFill>
          <a:ln w="12700">
            <a:solidFill>
              <a:srgbClr val="FCD34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73152" cy="126187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2064" y="226771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2064" y="2267712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28600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 |r| &gt; 0.85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2615184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TotServices ↔ BilledServices: highly correlated — one dropped.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↔ Load: highly correlated — one dropped.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analysis confirmed severe multicollinearity across all flagged columns.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77840" y="2286000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0" y="2350008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High VIF confirmed for: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TotServices, BilledServices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Units, Load, year, month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547872"/>
            <a:ext cx="8412480" cy="1261872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73152" cy="12618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2064" y="362102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" y="3621024"/>
            <a:ext cx="38404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60273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Cramér’s V — Geographic Columns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5840" y="3922776"/>
            <a:ext cx="43891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Division, SubDivision, Section, Area showed strong mutual association.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dropped — encoded into 1 composite location-frequency feature.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3639312"/>
            <a:ext cx="3063240" cy="1051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669280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 geo cols → 1 frequency feature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'areas' encodes relative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location weight per row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5A92B-A61F-29E5-9666-CE632C20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F5E208-D206-5F60-AAF8-0A2E7275E5D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B4E538-403C-82EA-EC87-4A8B33DE2E0E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 — Three Key Findings</a:t>
            </a:r>
            <a:endParaRPr lang="en-US" sz="2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30694FC-4CF0-1463-A03E-ED113547BE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114" y="2700660"/>
            <a:ext cx="3122266" cy="2346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E6B3DE9-AA59-2504-90B3-4D47F16BC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486" y="2745442"/>
            <a:ext cx="3094650" cy="230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D6BA0EA-06BF-4530-65F7-82418EB56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699" y="734238"/>
            <a:ext cx="2694101" cy="1924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6DEFAC6-E8C2-F16F-A6A1-310BE8E4E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4" y="826261"/>
            <a:ext cx="5165558" cy="174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093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4 Constructed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950976"/>
            <a:ext cx="1554480" cy="274320"/>
          </a:xfrm>
          <a:prstGeom prst="rect">
            <a:avLst/>
          </a:prstGeom>
          <a:solidFill>
            <a:srgbClr val="EFF6FF"/>
          </a:solidFill>
          <a:ln w="1016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871216" y="96012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31673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1208" y="136245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(year - year.min()) * 12 + month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redundant year/month into a single monotonic temporal signal. Removes both correlated columns in one step.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84124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84124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93268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96912" y="950976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06056" y="96012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Theft signal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92040" y="131673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56048" y="136245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BilledServices / TotServices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175564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services actually billed. Close to 0 → consumption without billing — direct theft signal. Encodes the billing anomaly explicitly.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85292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285292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29443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862072" y="2962656"/>
            <a:ext cx="1554480" cy="274320"/>
          </a:xfrm>
          <a:prstGeom prst="rect">
            <a:avLst/>
          </a:prstGeom>
          <a:solidFill>
            <a:srgbClr val="FEE2E2"/>
          </a:solidFill>
          <a:ln w="1016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71216" y="297180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signal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2841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1208" y="337413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 / Load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376732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consumed per unit of load. Abnormally high ratio → meter under-reporting true consumption. Captures stuck/tampered/bypassed meters.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852928"/>
            <a:ext cx="4251960" cy="19019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54880" y="2852928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29443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296912" y="2962656"/>
            <a:ext cx="1554480" cy="274320"/>
          </a:xfrm>
          <a:prstGeom prst="rect">
            <a:avLst/>
          </a:prstGeom>
          <a:solidFill>
            <a:srgbClr val="F0FDF4"/>
          </a:solidFill>
          <a:ln w="10160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06056" y="297180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encoding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328416"/>
            <a:ext cx="3950208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56048" y="337413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loc.value_counts(normalize=True)[row]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92040" y="3767328"/>
            <a:ext cx="3950208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all 5 geographic columns into relative location frequency. Rare location combinations receive low weights, flagging unusual areas.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47457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input:   X = df[["time_index",  "billing_rate",  "efficiency",  "areas"]]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Distribution — January 2019 Sample  (n = 7,105)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14173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0624" y="859536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874520" y="841248"/>
            <a:ext cx="10515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929384" y="8595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841248"/>
            <a:ext cx="8686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72384" y="85953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77640" y="841248"/>
            <a:ext cx="64008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32504" y="859536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841248"/>
            <a:ext cx="41148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64024" y="859536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1234440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0624" y="128016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1234440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29384" y="1280160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561.88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17520" y="1234440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72384" y="1280160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77640" y="1234440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32504" y="1280160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1234440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64024" y="128016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right skew — extreme high-consumption outliers present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1709928"/>
            <a:ext cx="14173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0624" y="175564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1709928"/>
            <a:ext cx="105156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929384" y="1755648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17520" y="1709928"/>
            <a:ext cx="8686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072384" y="175564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977640" y="1709928"/>
            <a:ext cx="640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32504" y="1755648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09160" y="1709928"/>
            <a:ext cx="41148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64024" y="1755648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Units — correlated extreme tails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2185416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0624" y="223113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2185416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929384" y="2231136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17520" y="2185416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072384" y="2231136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977640" y="2185416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032504" y="2231136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−0.55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09160" y="2185416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64024" y="2231136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Bimodal: 0 (entirely unbilled) and 1 (fully billed)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2660904"/>
            <a:ext cx="141732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20624" y="270662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2660904"/>
            <a:ext cx="105156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929384" y="270662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49.16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017520" y="2660904"/>
            <a:ext cx="86868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072384" y="2706624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167.91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77640" y="2660904"/>
            <a:ext cx="64008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032504" y="2706624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19.27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709160" y="2660904"/>
            <a:ext cx="4114800" cy="429768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64024" y="2706624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heavy tail — primary range for theft signals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65760" y="3136392"/>
            <a:ext cx="141732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20624" y="318211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74520" y="3136392"/>
            <a:ext cx="105156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929384" y="3182112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017520" y="3136392"/>
            <a:ext cx="8686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072384" y="3182112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977640" y="3136392"/>
            <a:ext cx="64008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032504" y="3182112"/>
            <a:ext cx="594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709160" y="3136392"/>
            <a:ext cx="4114800" cy="4297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764024" y="3182112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Frequency-encoded location weight — rare areas score low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65760" y="3703320"/>
            <a:ext cx="841248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02920" y="376732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applied — normalises to zero mean and unit variance before ODIF.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77840" y="37947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scaler.fit_transform(X)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65760" y="4325112"/>
            <a:ext cx="8412480" cy="548640"/>
          </a:xfrm>
          <a:prstGeom prst="rect">
            <a:avLst/>
          </a:prstGeom>
          <a:solidFill>
            <a:srgbClr val="FEF9C3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16 rows had Load = 0 → efficiency undefined (division by zero). Dropped before modelling. Final dataset: 7,105 rows.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Configuration — ODIF on NPDCL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20624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DeepIF Configuration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353312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52928" y="138988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11880" y="140817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mode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912" y="1755648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79222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representations_number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52928" y="179222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80" y="1810512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50 projection spaces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8912" y="2157984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1945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trees_per_representation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52928" y="219456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11880" y="2212848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 trees 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" y="2560320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259689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samples_number_per_tree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52928" y="259689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11880" y="2615184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256 per tree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" y="2962656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29992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network_hidden_dimensions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52928" y="299923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[500]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11880" y="3017520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hidden layer MLP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" y="3364992"/>
            <a:ext cx="4005072" cy="347472"/>
          </a:xfrm>
          <a:prstGeom prst="rect">
            <a:avLst/>
          </a:prstGeom>
          <a:solidFill>
            <a:srgbClr val="162F4E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0352" y="34015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representation_dimensionality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852928" y="34015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3419856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to ℝ²⁰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" y="3767328"/>
            <a:ext cx="4005072" cy="34747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0352" y="3803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52928" y="380390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11880" y="3822192"/>
            <a:ext cx="7498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868680"/>
            <a:ext cx="4160520" cy="33375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00600" y="96012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Pre-Sampling Impact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00600" y="1371600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19472" y="14356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built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55080" y="143560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× t = 50 × 6 = 300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00600" y="1901952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919472" y="19659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needed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55080" y="19659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× n = 6 × 256 = 1,536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00600" y="2432304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919472" y="249631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 transforms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55080" y="249631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N rows (100,000+)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00600" y="2962656"/>
            <a:ext cx="3886200" cy="457200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19472" y="3026664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ODIF transforms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55080" y="3026664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≤1,536 unique rows only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00600" y="3547872"/>
            <a:ext cx="3886200" cy="566928"/>
          </a:xfrm>
          <a:prstGeom prst="rect">
            <a:avLst/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92040" y="365760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~65× fewer samples transformed by CERE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20040" y="4325112"/>
            <a:ext cx="8503920" cy="621792"/>
          </a:xfrm>
          <a:prstGeom prst="rect">
            <a:avLst/>
          </a:prstGeom>
          <a:solidFill>
            <a:srgbClr val="0D3349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 np.percentile(scores, 99)  —  top 1% flagged as anomalous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distribution: dense low-score normal mass with a sparse anomalous high-score tail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12A8C6-BCD5-AD43-73D0-5222A9244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9076"/>
            <a:ext cx="9144000" cy="3602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3A22B5-F083-1C07-12A9-456069EA7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194429-0B4C-85A7-6DE5-9FE305EBC132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176034-EE91-AC63-A7E5-D8D4627EB673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Profile — What the Model Found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662106-8C2C-C494-6FFA-9A52E28FA1C6}"/>
              </a:ext>
            </a:extLst>
          </p:cNvPr>
          <p:cNvSpPr/>
          <p:nvPr/>
        </p:nvSpPr>
        <p:spPr>
          <a:xfrm>
            <a:off x="457200" y="841248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vs Anomalous Mean Comparison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CB5BC0-0421-210E-12DB-51556FE3693C}"/>
              </a:ext>
            </a:extLst>
          </p:cNvPr>
          <p:cNvSpPr/>
          <p:nvPr/>
        </p:nvSpPr>
        <p:spPr>
          <a:xfrm>
            <a:off x="365760" y="1188720"/>
            <a:ext cx="128930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785AD3-89BE-A56C-F582-AFEF5B9533B9}"/>
              </a:ext>
            </a:extLst>
          </p:cNvPr>
          <p:cNvSpPr/>
          <p:nvPr/>
        </p:nvSpPr>
        <p:spPr>
          <a:xfrm>
            <a:off x="420624" y="120700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73FDA5B-AFBE-00CB-F5D2-4313F35258D6}"/>
              </a:ext>
            </a:extLst>
          </p:cNvPr>
          <p:cNvSpPr/>
          <p:nvPr/>
        </p:nvSpPr>
        <p:spPr>
          <a:xfrm>
            <a:off x="1737360" y="1188720"/>
            <a:ext cx="12435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CDB170-DE68-23A0-A7C9-852A2A916CFC}"/>
              </a:ext>
            </a:extLst>
          </p:cNvPr>
          <p:cNvSpPr/>
          <p:nvPr/>
        </p:nvSpPr>
        <p:spPr>
          <a:xfrm>
            <a:off x="1792224" y="1207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mean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BF63631-6BA1-5486-4C87-EDA05D10F7AC}"/>
              </a:ext>
            </a:extLst>
          </p:cNvPr>
          <p:cNvSpPr/>
          <p:nvPr/>
        </p:nvSpPr>
        <p:spPr>
          <a:xfrm>
            <a:off x="3063240" y="1188720"/>
            <a:ext cx="119786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189B34-2FC8-4A9A-182A-841B99B56F36}"/>
              </a:ext>
            </a:extLst>
          </p:cNvPr>
          <p:cNvSpPr/>
          <p:nvPr/>
        </p:nvSpPr>
        <p:spPr>
          <a:xfrm>
            <a:off x="3118104" y="12070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mean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92EABF7-182A-851C-BFE6-A5FCD3CAD8DB}"/>
              </a:ext>
            </a:extLst>
          </p:cNvPr>
          <p:cNvSpPr/>
          <p:nvPr/>
        </p:nvSpPr>
        <p:spPr>
          <a:xfrm>
            <a:off x="4315968" y="1188720"/>
            <a:ext cx="1472184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91B6BB-C2F2-2C80-86D7-B2777008D195}"/>
              </a:ext>
            </a:extLst>
          </p:cNvPr>
          <p:cNvSpPr/>
          <p:nvPr/>
        </p:nvSpPr>
        <p:spPr>
          <a:xfrm>
            <a:off x="4370832" y="120700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B5AE822-46A8-1EC4-C443-327B14C869F9}"/>
              </a:ext>
            </a:extLst>
          </p:cNvPr>
          <p:cNvSpPr/>
          <p:nvPr/>
        </p:nvSpPr>
        <p:spPr>
          <a:xfrm>
            <a:off x="365760" y="15819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1039B5-8817-360E-3354-2076C2F3E322}"/>
              </a:ext>
            </a:extLst>
          </p:cNvPr>
          <p:cNvSpPr/>
          <p:nvPr/>
        </p:nvSpPr>
        <p:spPr>
          <a:xfrm>
            <a:off x="420624" y="16276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billing_rate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348B190-B64A-7F32-3A66-BF4D4CA65B15}"/>
              </a:ext>
            </a:extLst>
          </p:cNvPr>
          <p:cNvSpPr/>
          <p:nvPr/>
        </p:nvSpPr>
        <p:spPr>
          <a:xfrm>
            <a:off x="1737360" y="15819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CA64E0E-ABFC-0D24-9C01-E849DB565779}"/>
              </a:ext>
            </a:extLst>
          </p:cNvPr>
          <p:cNvSpPr/>
          <p:nvPr/>
        </p:nvSpPr>
        <p:spPr>
          <a:xfrm>
            <a:off x="1792224" y="16276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~0.65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6A2A700-66EC-143B-A9C0-E43E3A127666}"/>
              </a:ext>
            </a:extLst>
          </p:cNvPr>
          <p:cNvSpPr/>
          <p:nvPr/>
        </p:nvSpPr>
        <p:spPr>
          <a:xfrm>
            <a:off x="3063240" y="15819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734F182-17B9-4AD3-E404-7D1E34379637}"/>
              </a:ext>
            </a:extLst>
          </p:cNvPr>
          <p:cNvSpPr/>
          <p:nvPr/>
        </p:nvSpPr>
        <p:spPr>
          <a:xfrm>
            <a:off x="3118104" y="16276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~0.18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CCF01D-3BE3-FE7A-40C1-0402B5CB6BCC}"/>
              </a:ext>
            </a:extLst>
          </p:cNvPr>
          <p:cNvSpPr/>
          <p:nvPr/>
        </p:nvSpPr>
        <p:spPr>
          <a:xfrm>
            <a:off x="4315968" y="15819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2FC7D60-C736-5FA1-133E-428BDD6EB739}"/>
              </a:ext>
            </a:extLst>
          </p:cNvPr>
          <p:cNvSpPr/>
          <p:nvPr/>
        </p:nvSpPr>
        <p:spPr>
          <a:xfrm>
            <a:off x="4370832" y="16276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Low — theft signal</a:t>
            </a:r>
            <a:endParaRPr lang="en-US" sz="11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87E81DB-80F8-4AEF-8725-3E4293F76D50}"/>
              </a:ext>
            </a:extLst>
          </p:cNvPr>
          <p:cNvSpPr/>
          <p:nvPr/>
        </p:nvSpPr>
        <p:spPr>
          <a:xfrm>
            <a:off x="365760" y="2039112"/>
            <a:ext cx="128930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E8EEB21-FD03-ACE7-3BEA-57821E66DB29}"/>
              </a:ext>
            </a:extLst>
          </p:cNvPr>
          <p:cNvSpPr/>
          <p:nvPr/>
        </p:nvSpPr>
        <p:spPr>
          <a:xfrm>
            <a:off x="420624" y="20848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efficiency</a:t>
            </a: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C4A0032-2C3C-3E85-BB7F-E42DD460F36D}"/>
              </a:ext>
            </a:extLst>
          </p:cNvPr>
          <p:cNvSpPr/>
          <p:nvPr/>
        </p:nvSpPr>
        <p:spPr>
          <a:xfrm>
            <a:off x="1737360" y="2039112"/>
            <a:ext cx="12435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7EA016A-DD67-31F5-84A6-010B9F09F1D2}"/>
              </a:ext>
            </a:extLst>
          </p:cNvPr>
          <p:cNvSpPr/>
          <p:nvPr/>
        </p:nvSpPr>
        <p:spPr>
          <a:xfrm>
            <a:off x="1792224" y="20848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~41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B4C742A-83A4-F21F-E654-5400D60EA447}"/>
              </a:ext>
            </a:extLst>
          </p:cNvPr>
          <p:cNvSpPr/>
          <p:nvPr/>
        </p:nvSpPr>
        <p:spPr>
          <a:xfrm>
            <a:off x="3063240" y="2039112"/>
            <a:ext cx="119786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085EF5D-51C5-B57E-6D89-9CB692C2A7F9}"/>
              </a:ext>
            </a:extLst>
          </p:cNvPr>
          <p:cNvSpPr/>
          <p:nvPr/>
        </p:nvSpPr>
        <p:spPr>
          <a:xfrm>
            <a:off x="3118104" y="20848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~1183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64C7BFB-B546-8923-EFA9-D524D1552D6E}"/>
              </a:ext>
            </a:extLst>
          </p:cNvPr>
          <p:cNvSpPr/>
          <p:nvPr/>
        </p:nvSpPr>
        <p:spPr>
          <a:xfrm>
            <a:off x="4315968" y="2039112"/>
            <a:ext cx="1472184" cy="402336"/>
          </a:xfrm>
          <a:prstGeom prst="rect">
            <a:avLst/>
          </a:prstGeom>
          <a:solidFill>
            <a:srgbClr val="FFF5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8AE60192-CAB1-8639-378E-4F089805C8CD}"/>
              </a:ext>
            </a:extLst>
          </p:cNvPr>
          <p:cNvSpPr/>
          <p:nvPr/>
        </p:nvSpPr>
        <p:spPr>
          <a:xfrm>
            <a:off x="4370832" y="20848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High — tampering</a:t>
            </a:r>
            <a:endParaRPr lang="en-US" sz="11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5C491C3-0DBA-CB8A-2565-11CF847B1F83}"/>
              </a:ext>
            </a:extLst>
          </p:cNvPr>
          <p:cNvSpPr/>
          <p:nvPr/>
        </p:nvSpPr>
        <p:spPr>
          <a:xfrm>
            <a:off x="365760" y="24963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3B97845-F9FC-BB19-97C8-E7AA8EF8FE7F}"/>
              </a:ext>
            </a:extLst>
          </p:cNvPr>
          <p:cNvSpPr/>
          <p:nvPr/>
        </p:nvSpPr>
        <p:spPr>
          <a:xfrm>
            <a:off x="420624" y="25420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time_index</a:t>
            </a:r>
            <a:endParaRPr lang="en-US" sz="11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82BC4EA-3DC2-ECE5-1BFC-06B15BA7668E}"/>
              </a:ext>
            </a:extLst>
          </p:cNvPr>
          <p:cNvSpPr/>
          <p:nvPr/>
        </p:nvSpPr>
        <p:spPr>
          <a:xfrm>
            <a:off x="1737360" y="24963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757DECF3-DF72-0B06-AF34-E243CD2EE8AC}"/>
              </a:ext>
            </a:extLst>
          </p:cNvPr>
          <p:cNvSpPr/>
          <p:nvPr/>
        </p:nvSpPr>
        <p:spPr>
          <a:xfrm>
            <a:off x="1792224" y="25420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1D6AE899-5627-FB1E-CCA1-9FA586C4ABC2}"/>
              </a:ext>
            </a:extLst>
          </p:cNvPr>
          <p:cNvSpPr/>
          <p:nvPr/>
        </p:nvSpPr>
        <p:spPr>
          <a:xfrm>
            <a:off x="3063240" y="24963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6EA325B-442E-26BD-77F4-531111FBE4A9}"/>
              </a:ext>
            </a:extLst>
          </p:cNvPr>
          <p:cNvSpPr/>
          <p:nvPr/>
        </p:nvSpPr>
        <p:spPr>
          <a:xfrm>
            <a:off x="3118104" y="25420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E6CB626-C3CF-6CE5-8253-001EDA6512C1}"/>
              </a:ext>
            </a:extLst>
          </p:cNvPr>
          <p:cNvSpPr/>
          <p:nvPr/>
        </p:nvSpPr>
        <p:spPr>
          <a:xfrm>
            <a:off x="4315968" y="24963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DC43D6D-4880-DBE6-F092-8FDEA2D8BD65}"/>
              </a:ext>
            </a:extLst>
          </p:cNvPr>
          <p:cNvSpPr/>
          <p:nvPr/>
        </p:nvSpPr>
        <p:spPr>
          <a:xfrm>
            <a:off x="4370832" y="25420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F5794AC-A65E-7C60-056F-720886F26B1D}"/>
              </a:ext>
            </a:extLst>
          </p:cNvPr>
          <p:cNvSpPr/>
          <p:nvPr/>
        </p:nvSpPr>
        <p:spPr>
          <a:xfrm>
            <a:off x="365760" y="2953512"/>
            <a:ext cx="128930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08FF728B-C7D8-28AC-306F-080A15BC6CA3}"/>
              </a:ext>
            </a:extLst>
          </p:cNvPr>
          <p:cNvSpPr/>
          <p:nvPr/>
        </p:nvSpPr>
        <p:spPr>
          <a:xfrm>
            <a:off x="420624" y="2999232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areas</a:t>
            </a:r>
            <a:endParaRPr lang="en-US" sz="11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A5CA9FF-AAD9-1F95-E1AE-47D9AA57C15B}"/>
              </a:ext>
            </a:extLst>
          </p:cNvPr>
          <p:cNvSpPr/>
          <p:nvPr/>
        </p:nvSpPr>
        <p:spPr>
          <a:xfrm>
            <a:off x="1737360" y="2953512"/>
            <a:ext cx="12435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B992B1D-69CC-C02F-1014-FD0625C1EDD4}"/>
              </a:ext>
            </a:extLst>
          </p:cNvPr>
          <p:cNvSpPr/>
          <p:nvPr/>
        </p:nvSpPr>
        <p:spPr>
          <a:xfrm>
            <a:off x="1792224" y="299923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~0.03</a:t>
            </a:r>
            <a:endParaRPr lang="en-US" sz="11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F312746-6448-0297-5D9D-2AD01C693423}"/>
              </a:ext>
            </a:extLst>
          </p:cNvPr>
          <p:cNvSpPr/>
          <p:nvPr/>
        </p:nvSpPr>
        <p:spPr>
          <a:xfrm>
            <a:off x="3063240" y="2953512"/>
            <a:ext cx="119786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0C6A9EAF-6B21-C8A9-A426-CA618CF0F3B3}"/>
              </a:ext>
            </a:extLst>
          </p:cNvPr>
          <p:cNvSpPr/>
          <p:nvPr/>
        </p:nvSpPr>
        <p:spPr>
          <a:xfrm>
            <a:off x="3118104" y="299923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~0.02</a:t>
            </a:r>
            <a:endParaRPr lang="en-US" sz="11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02C46CAF-81BA-E678-19B0-37D4EBB113BD}"/>
              </a:ext>
            </a:extLst>
          </p:cNvPr>
          <p:cNvSpPr/>
          <p:nvPr/>
        </p:nvSpPr>
        <p:spPr>
          <a:xfrm>
            <a:off x="4315968" y="2953512"/>
            <a:ext cx="1472184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5A3B367-EA53-AE28-373C-658BFA3DFAA3}"/>
              </a:ext>
            </a:extLst>
          </p:cNvPr>
          <p:cNvSpPr/>
          <p:nvPr/>
        </p:nvSpPr>
        <p:spPr>
          <a:xfrm>
            <a:off x="4370832" y="2999232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pattern</a:t>
            </a:r>
            <a:endParaRPr lang="en-US" sz="11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6F6C1C5E-A591-B762-3ED3-7C21453238FF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AD8BDACE-12DF-2BAD-A6A6-AA4DCE3C6B81}"/>
              </a:ext>
            </a:extLst>
          </p:cNvPr>
          <p:cNvSpPr/>
          <p:nvPr/>
        </p:nvSpPr>
        <p:spPr>
          <a:xfrm>
            <a:off x="6080760" y="84124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3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C195C5E-4AAB-4B01-3B41-3368CF6CF5E4}"/>
              </a:ext>
            </a:extLst>
          </p:cNvPr>
          <p:cNvSpPr/>
          <p:nvPr/>
        </p:nvSpPr>
        <p:spPr>
          <a:xfrm>
            <a:off x="6080760" y="1188720"/>
            <a:ext cx="2743200" cy="3246120"/>
          </a:xfrm>
          <a:prstGeom prst="rect">
            <a:avLst/>
          </a:prstGeom>
          <a:solidFill>
            <a:srgbClr val="FFF5F5"/>
          </a:solidFill>
          <a:ln w="1270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ADFC423B-76D7-A3E0-C6C3-12F3ACF06012}"/>
              </a:ext>
            </a:extLst>
          </p:cNvPr>
          <p:cNvSpPr/>
          <p:nvPr/>
        </p:nvSpPr>
        <p:spPr>
          <a:xfrm>
            <a:off x="6080760" y="1188720"/>
            <a:ext cx="73152" cy="3246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61A6D19A-856D-55CD-5C70-A4240F597129}"/>
              </a:ext>
            </a:extLst>
          </p:cNvPr>
          <p:cNvSpPr/>
          <p:nvPr/>
        </p:nvSpPr>
        <p:spPr>
          <a:xfrm>
            <a:off x="6263640" y="12618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 Tampering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99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Bypass</a:t>
            </a:r>
            <a:endParaRPr lang="en-US" sz="14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F93CD09-E419-043D-A058-D68B9BAF8580}"/>
              </a:ext>
            </a:extLst>
          </p:cNvPr>
          <p:cNvSpPr/>
          <p:nvPr/>
        </p:nvSpPr>
        <p:spPr>
          <a:xfrm>
            <a:off x="6263640" y="1828800"/>
            <a:ext cx="2450592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consumption
(Units ↑ and Load ↑)
</a:t>
            </a: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Under-reporting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billed
services (billing_rate ↓)
</a:t>
            </a: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units-to-load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(efficiency ↑)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is not accurately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capturing true consumption.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483128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Cases — ODIF Pipeline Generalisability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834640" cy="3794760"/>
          </a:xfrm>
          <a:prstGeom prst="rect">
            <a:avLst/>
          </a:prstGeom>
          <a:solidFill>
            <a:srgbClr val="0D2F4E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960120"/>
            <a:ext cx="822960" cy="8229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883664"/>
            <a:ext cx="182880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Electricity Theft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" y="265176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meter tampering.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" y="3783724"/>
            <a:ext cx="2487168" cy="587108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385876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consumption · Low billing rate · High efficiency ratio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64408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70248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70248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01568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Faulty Equipment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consuming abnormal power relative to rated load.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520440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Distinguishable from theft via geographic context (industrial vs residential)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868680"/>
            <a:ext cx="2834640" cy="3794760"/>
          </a:xfrm>
          <a:prstGeom prst="rect">
            <a:avLst/>
          </a:prstGeom>
          <a:solidFill>
            <a:srgbClr val="112240"/>
          </a:solidFill>
          <a:ln w="12700">
            <a:solidFill>
              <a:srgbClr val="2A4A6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214616" y="960120"/>
            <a:ext cx="822960" cy="82296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214616" y="969264"/>
            <a:ext cx="822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45936" y="18836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2331720"/>
            <a:ext cx="24871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patterns often precede equipment failures: overheating, motor wear, bearing failures.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73368" y="3474720"/>
            <a:ext cx="2487168" cy="621792"/>
          </a:xfrm>
          <a:prstGeom prst="rect">
            <a:avLst/>
          </a:prstGeom>
          <a:solidFill>
            <a:srgbClr val="1A3A5C"/>
          </a:solidFill>
          <a:ln w="6350">
            <a:solidFill>
              <a:srgbClr val="2A4A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358444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reduces downtime and repair cost before failure occurs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004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— 4 engineered features, ODIF scoring, 99th percentile threshold — applies across all three domains.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2485</Words>
  <Application>Microsoft Macintosh PowerPoint</Application>
  <PresentationFormat>On-screen Show (16:9)</PresentationFormat>
  <Paragraphs>438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Review — Deep Isolation Forest</dc:title>
  <dc:subject>PptxGenJS Presentation</dc:subject>
  <dc:creator>PptxGenJS</dc:creator>
  <cp:lastModifiedBy>Aman Jalan</cp:lastModifiedBy>
  <cp:revision>3</cp:revision>
  <dcterms:created xsi:type="dcterms:W3CDTF">2026-05-22T14:05:53Z</dcterms:created>
  <dcterms:modified xsi:type="dcterms:W3CDTF">2026-05-27T10:53:26Z</dcterms:modified>
</cp:coreProperties>
</file>
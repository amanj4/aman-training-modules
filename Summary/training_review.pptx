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7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4" r:id="rId21"/>
    <p:sldId id="275" r:id="rId22"/>
    <p:sldId id="276" r:id="rId23"/>
    <p:sldId id="279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DC1805-C575-522E-8777-9E1DA016861C}" name="Aman Jalan" initials="AJ" userId="bf43d9433e8112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0DF4CD-DE00-5D46-A2B1-F03536443233}" authorId="{ADDC1805-C575-522E-8777-9E1DA016861C}" created="2026-06-11T09:09:07.9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8" creationId="{00000000-0000-0000-0000-000000000000}"/>
      <ac:txMk cp="6" len="3">
        <ac:context len="10" hash="88407680"/>
      </ac:txMk>
    </ac:txMkLst>
    <p188:pos x="2419773" y="459458"/>
    <p188:txBody>
      <a:bodyPr/>
      <a:lstStyle/>
      <a:p>
        <a:r>
          <a:rPr lang="en-US"/>
          <a:t>rewrite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F872E0-D961-2549-B366-82541E2EFE33}" authorId="{ADDC1805-C575-522E-8777-9E1DA016861C}" created="2026-06-11T09:38:41.7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3" creationId="{00000000-0000-0000-0000-000000000000}"/>
      <ac:txMk cp="7" len="45">
        <ac:context len="53" hash="164944107"/>
      </ac:txMk>
    </ac:txMkLst>
    <p188:pos x="7402286" y="492034"/>
    <p188:txBody>
      <a:bodyPr/>
      <a:lstStyle/>
      <a:p>
        <a:r>
          <a:rPr lang="en-US"/>
          <a:t>handwritten exercise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56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D9CA-40DF-F261-3E9F-4861AFC2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A1E3C-C26C-EB49-2C4A-9525F4C97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2038E-4C91-FA44-1C74-DBD2EE3A7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64158-ACAE-0B98-AAD7-46DA467E3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11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E05A-E461-BD06-FB4F-3703B03A4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BC76B-D652-0216-8AA7-8EE140716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FA616-A654-0598-8399-48B166DB5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217B-664E-758F-1061-B6768326D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63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2801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916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514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Isolation Forest (DIF)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3246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axis-parallel cuts to non-linear projections via random neural networks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Anomaly Detection?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score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 data object — </a:t>
            </a:r>
            <a:r>
              <a:rPr lang="en-US" sz="125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 (unsupervised learning)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points that deviate structurally from the majority (Anomalies).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Function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: D → </a:t>
            </a:r>
            <a:r>
              <a:rPr lang="en-US" sz="22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{o₁, …, oₙ}   Higher score = more anomalous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Electricity Theft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550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consumption patterns in metered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Fraud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60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irregular financial transactions in real 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337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Fault Diagnosis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6667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sensor anomalies in industrial systems</a:t>
            </a:r>
            <a:endParaRPr lang="en-US" sz="11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— Standard Isolation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Intuition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rare and different — they require fewer random splits to isolate than normal points surrounded by similar neighbours. Shorter path through the tree → more anomalous.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iTree Construction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subsample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initialises root node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random feature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 and random split threshold η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o⁽ʲ⁾ ≤ η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o⁽ʲ⁾ &gt; η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leaf size = 1 or max depth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388620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8686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F(o|T) = 2⁻ ᴹ[|p(o|τ)|] / C(n)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|p(o|τ)| = path length in tree 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C(n) = normalising constant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path → higher score → more anomalous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23957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8862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280720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Linear time complexity O(N)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46704"/>
            <a:ext cx="38862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341071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distributional assumptions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950208"/>
            <a:ext cx="388620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401421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Scales to large, high-dimensional datasets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Problems with iForest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3657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False Negatives (Hard Anomalies)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iForest is axis-parallel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random feature per split.
Anomalies detectable only through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combinations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be isolated by horizontal or vertical cuts alone.
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failure case: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anomalies surrounded by a ring of normal points. No single feature separates them — iForest assigns a normal score.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38862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9136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 surrounded by ○○○  →  axis-parallel cuts cannot isolate 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160520" cy="3657600"/>
          </a:xfrm>
          <a:prstGeom prst="rect">
            <a:avLst/>
          </a:prstGeom>
          <a:solidFill>
            <a:srgbClr val="FFFBF0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416052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896112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Ghost Regions / Algorithmic Bias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Axis-parallel splits create artefact regions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empty areas of the data space.
Rectangular zones near clusters receive 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unexpectedly low anomaly scores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despite containing no samples. The partitioning treats them as ‘normal’.
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(random hyperplanes) partially reduces ghost regions but remains linear — non-linear anomaly boundaries still defeat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3840480"/>
            <a:ext cx="3886200" cy="530352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39136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partitions → dead zones → false sense of normality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 — The Key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cannot separate anomalies with linear cuts in the original space,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the data into new spaces where you can.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432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inseparable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any linear cut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24871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64408" y="2057400"/>
            <a:ext cx="274320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NN Projection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5786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Randomly-initialised 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non-linearly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4871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8776" y="2057400"/>
            <a:ext cx="2743200" cy="1417320"/>
          </a:xfrm>
          <a:prstGeom prst="rect">
            <a:avLst/>
          </a:prstGeom>
          <a:solidFill>
            <a:srgbClr val="0F4C3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0216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Space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25786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Axis-parallel iForest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works cleanly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850392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cut in projected space  =  Non-linear cut in original space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are randomly initialized, not trained. We prefer diversity over optimisation.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 Algorithm — Three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8686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86868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673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Representation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" y="248716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randomly initialised NNs φ₁…φᵣ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303580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3090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all data → ℝᵈ projected space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58444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6393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weights → diverse views of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413308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4187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G(D) = { Xᵤ | Xᵤ = φᵤ(D; θᵤ) }ᵐᵘ⁽ᵤ⁼₁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822960"/>
            <a:ext cx="28346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70248" y="8686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70248" y="86868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55848" y="1673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iTrees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Spaces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93008" y="237744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248716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isolation trees per representation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03580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3090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axis-parallel splits in Xᵤ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58444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36393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trees T = r × 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413308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0" y="4187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cut in Xᵤ ≡ non-linear in original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822960"/>
            <a:ext cx="28346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14616" y="8686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14616" y="86868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00216" y="167335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DEAS Scoring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(Deviation-Enhanced)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37376" y="237744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27648" y="248716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19088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depth score with split deviation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27648" y="303580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19088" y="3090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deviation → dense region → penalised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27648" y="358444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9088" y="36393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deviation → sparse region → amplified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27648" y="4133088"/>
            <a:ext cx="2514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19088" y="4187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depth term × deviation term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 — Computation-Efficient Representation 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8696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 separate networks run sequentially → cost scales linearly with r. CERE computes all r representations in a single batched operation.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CERE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ensemble member i shares a base matrix 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further diversified by two small random vectors 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∈ ℝᵐ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qᵢ ∈ ℝⁿ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
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Wᵢ  =  W₀ ∘ (pᵢ qᵢᵀ)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∘ = element-wise Hadamard product
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 representations are computed as a single parallel batch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 ≈ one forward pass regardless of 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886200" cy="20939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3116291"/>
            <a:ext cx="3611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3207731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representations ≈ cost of 1 forward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320540"/>
            <a:ext cx="82296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3845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 · D · r · t) — linear in data size N, dimensionality D, and ensemble size. Inherits iForest’s scalability.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C5F45B-E0C0-2C01-FFAE-4B6FB6035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714" y="1799711"/>
            <a:ext cx="3695411" cy="103059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DEAS — Deviation-Enhanced Anomaly Scoring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Deviation Degree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split k along the path, measures how far the data point deviates from the split threshold ηₖ. Averaged across all splits encountered.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01168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g(x)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 region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suppressed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651760"/>
            <a:ext cx="2011680" cy="146304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2743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g(x)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07238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Sparse / isolated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amplified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DEAS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9319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term   ×   Deviation term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achieves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4436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iForest path length does not account for density context. DEAS adds spatial awareness: points consistently near split boundaries live in crowded regions and get reduced; points far from boundaries inhabit sparse, genuinely anomalous space and get amplified.</a:t>
            </a:r>
            <a:endParaRPr lang="en-US" sz="11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2E2F32-059B-A963-3D2E-C2B5798C2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752" y="1425822"/>
            <a:ext cx="3530608" cy="3487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51B572-D9E8-3A8B-D55B-EA1EFB4F1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494" y="1261872"/>
            <a:ext cx="2963092" cy="5497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(Not Trained) Representations?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counterintuitive design choice — and the most important.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29844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5272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4023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are not universal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optimised for one dataset’s anomaly structure is a poor fit for another. There is no single supervised objective that generalises across diverse anomaly types — trained representations are inherently dataset-biased.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114800" cy="129844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4023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kills diversity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scoring works because the ensemble covers many different views. Optimising all representations toward the same objective causes convergence — the ensemble collapses into a single view, destroying the benefit of ensembling entirely.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works instead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40233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627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projections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9472" y="1938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random weights fold the data space differently — no two networks produce the same 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0233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5786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651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activations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19472" y="29626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Tanh etc. bend space even without training — creating genuinely non-linear transformation surfaces.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02736"/>
            <a:ext cx="40233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through ensemble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39867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anomalies inseparable in original space are isolated in at least some projected spaces; averaging surfaces them.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 vs iForest vs EIF — 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834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896112"/>
            <a:ext cx="16459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896112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914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896112"/>
            <a:ext cx="22860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9144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44168"/>
            <a:ext cx="283464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371600"/>
            <a:ext cx="2770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344168"/>
            <a:ext cx="164592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371600"/>
            <a:ext cx="1581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Axis-parallel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344168"/>
            <a:ext cx="155448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47488" y="1371600"/>
            <a:ext cx="1490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Oblique linear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344168"/>
            <a:ext cx="228600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93408" y="1371600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(NN proj.)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002536"/>
            <a:ext cx="283464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770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region bias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002536"/>
            <a:ext cx="164592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029968"/>
            <a:ext cx="1581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Severe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002536"/>
            <a:ext cx="155448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47488" y="2029968"/>
            <a:ext cx="1490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Partial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002536"/>
            <a:ext cx="228600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93408" y="2029968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Eliminated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660904"/>
            <a:ext cx="2834640" cy="603504"/>
          </a:xfrm>
          <a:prstGeom prst="rect">
            <a:avLst/>
          </a:prstGeom>
          <a:solidFill>
            <a:srgbClr val="183558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2688336"/>
            <a:ext cx="2770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anomaly detection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660904"/>
            <a:ext cx="1645920" cy="603504"/>
          </a:xfrm>
          <a:prstGeom prst="rect">
            <a:avLst/>
          </a:prstGeom>
          <a:solidFill>
            <a:srgbClr val="183558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688336"/>
            <a:ext cx="1581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2660904"/>
            <a:ext cx="1554480" cy="603504"/>
          </a:xfrm>
          <a:prstGeom prst="rect">
            <a:avLst/>
          </a:prstGeom>
          <a:solidFill>
            <a:srgbClr val="183558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7488" y="2688336"/>
            <a:ext cx="1490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Partial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2660904"/>
            <a:ext cx="2286000" cy="603504"/>
          </a:xfrm>
          <a:prstGeom prst="rect">
            <a:avLst/>
          </a:prstGeom>
          <a:solidFill>
            <a:srgbClr val="183558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93408" y="2688336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Exposed via proj.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319272"/>
            <a:ext cx="283464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3346704"/>
            <a:ext cx="2770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3319272"/>
            <a:ext cx="164592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10128" y="3346704"/>
            <a:ext cx="1581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3319272"/>
            <a:ext cx="155448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47488" y="3346704"/>
            <a:ext cx="1490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OOM risk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29400" y="3319272"/>
            <a:ext cx="2286000" cy="603504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93408" y="3346704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Projects to small 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977640"/>
            <a:ext cx="283464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005072"/>
            <a:ext cx="2770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3977640"/>
            <a:ext cx="164592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10128" y="4005072"/>
            <a:ext cx="1581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linear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83480" y="3977640"/>
            <a:ext cx="155448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47488" y="4005072"/>
            <a:ext cx="1490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linear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29400" y="3977640"/>
            <a:ext cx="2286000" cy="603504"/>
          </a:xfrm>
          <a:prstGeom prst="rect">
            <a:avLst/>
          </a:prstGeom>
          <a:solidFill>
            <a:srgbClr val="1E3D62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93408" y="4005072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via CERE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2801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916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Optimised Deep Isolation Forest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4871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321868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detection quality. Fraction of the compute.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931920"/>
            <a:ext cx="475488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9959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 · DEAS scoring · CERE — all unchanged. Only the training phase is restructured.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DIF’s Training Phase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 does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362456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62456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716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all N samples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passes through CERE into r representations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1226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12264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1214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representations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3957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O(Nrb) memory consumed before any trees are built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862072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862072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8712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at tree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1455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r×t trees draws n samples from the already-stored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411480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Each tree uses only n = 256 samples. The other N − n transforms are computed and stored for nothing.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86868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8862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samples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1618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100,000)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039112"/>
            <a:ext cx="38862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 per tree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084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24231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(default: 256)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43784"/>
            <a:ext cx="38862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2907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 needed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889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× 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83480" y="32278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100 × 256 = 25,600)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648456"/>
            <a:ext cx="388620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712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transformations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36941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− tn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983480" y="403250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~74,400 in this example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ODIF — Sample First, Transform Second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0574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408" y="960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96012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all needed indices upfront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× n total indices selected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95728" y="1783080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96312" y="841248"/>
            <a:ext cx="20574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96312" y="841248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96012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87752" y="17830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1488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unique indices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transformed at most once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783080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72584" y="841248"/>
            <a:ext cx="20574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72584" y="841248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30952" y="960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30952" y="96012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64024" y="17830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21488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CERE to reduced subset 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the full N 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8272" y="1783080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48856" y="841248"/>
            <a:ext cx="20574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48856" y="841248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07224" y="9601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07224" y="96012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0296" y="17830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Trees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0296" y="21488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pre-sampled data to each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re-sampling at construction 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9317" y="33659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Comparison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9317" y="3731696"/>
            <a:ext cx="2194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5037" y="374998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35317" y="3731696"/>
            <a:ext cx="24688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81037" y="374998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95637" y="3731696"/>
            <a:ext cx="1920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41357" y="374998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(reprs.)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07317" y="3731696"/>
            <a:ext cx="1645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53037" y="37499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9317" y="412488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2469" y="4152320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35317" y="4124888"/>
            <a:ext cx="24688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808469" y="415232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O(Nar + rt·log n)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295637" y="4124888"/>
            <a:ext cx="192024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68789" y="415232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O(Nrb)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307317" y="4124888"/>
            <a:ext cx="164592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80469" y="41523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full dataset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49317" y="4536368"/>
            <a:ext cx="219456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2469" y="4563800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ODIF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735317" y="4536368"/>
            <a:ext cx="246888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08469" y="45638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O(tnar + rt·log n)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295637" y="4536368"/>
            <a:ext cx="192024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68789" y="456380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O(tnrb)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307317" y="4536368"/>
            <a:ext cx="164592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80469" y="45638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≪ 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57200" y="4865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datasets where N ≫ tn, the reduction is substantial — only samples that will actually be used are ever transformed.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ODIF Results — 18 Real-World 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4582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(PR AUC)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ODIF = DIF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0.52  —  statistically indistinguishable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6576" cy="914400"/>
          </a:xfrm>
          <a:prstGeom prst="rect">
            <a:avLst/>
          </a:prstGeom>
          <a:solidFill>
            <a:srgbClr val="2A4A6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87568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significantly outperform iForest, ECOD, SGAE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87568" y="1371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16052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73152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3794760" cy="82296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6151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5420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651760" y="267004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average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several-fold on large datasets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3794760" cy="82296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4381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651760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 vs ~2,600 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training run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103120"/>
            <a:ext cx="4160520" cy="228600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2103120"/>
            <a:ext cx="73152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176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542032"/>
            <a:ext cx="3794760" cy="82296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6151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254203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32320" y="28072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on average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438144"/>
            <a:ext cx="3794760" cy="82296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55228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438144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32320" y="3703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on average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4617720"/>
            <a:ext cx="8458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preserved — only training efficiency changes. ODIF is a strict improvement over DIF.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188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ODIF Applied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on NPDCL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F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Consumption 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Power Distribution Company of Telangana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977640"/>
            <a:ext cx="8458200" cy="56692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050792"/>
            <a:ext cx="8183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meter tampering, illegal connections, and faulty equipment via unsupervised anomaly scoring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— NPDCL Electricity Consumption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916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841248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Group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822960"/>
            <a:ext cx="33375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12848" y="841248"/>
            <a:ext cx="3273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822960"/>
            <a:ext cx="32461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41848" y="841248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16916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2801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1234440"/>
            <a:ext cx="333756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12848" y="1280160"/>
            <a:ext cx="3255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Circle, Division, SubDivision,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Section, Area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234440"/>
            <a:ext cx="324612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41848" y="128016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of location — high mutual association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84248"/>
            <a:ext cx="1691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029968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1984248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12848" y="2029968"/>
            <a:ext cx="3255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TotServices, BilledServices,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Units, 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984248"/>
            <a:ext cx="32461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41848" y="2029968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 columns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34056"/>
            <a:ext cx="16916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2779776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2734056"/>
            <a:ext cx="333756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12848" y="2779776"/>
            <a:ext cx="3255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month, month_name,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734056"/>
            <a:ext cx="324612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41848" y="2779776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encodings — collapsed to time_index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1691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529584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48840" y="3483864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12848" y="3529584"/>
            <a:ext cx="3255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CatCode, CatDesc, resource_id,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resource_title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483864"/>
            <a:ext cx="32461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41848" y="3529584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variance / pure ID columns — dropped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25112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39826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 used as representative EDA sample. Extended to 3 sampled files (Jan 2019, May 2022, Dec 2025) before committing to the full dataset.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Three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26187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7315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91440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914400"/>
            <a:ext cx="38404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326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Zero-Variance Columns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CatCode (always 7), year, month, CatDesc, month_name, timestamp, resource_id, resource_title showed zero variance within and across all sampled files.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discriminating signal — flagged for immediate removal.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932688"/>
            <a:ext cx="306324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0" y="996696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df['CatCode'].value_counts()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 {7: 7105}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value across all rows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1261872"/>
          </a:xfrm>
          <a:prstGeom prst="rect">
            <a:avLst/>
          </a:prstGeom>
          <a:solidFill>
            <a:srgbClr val="FFFBF0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73152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" y="226771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267712"/>
            <a:ext cx="38404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286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 |r| &gt; 0.85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TotServices ↔ BilledServices: highly correlated — one dropped.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↔ Load: highly correlated — one dropped.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analysis confirmed severe multicollinearity across all flagged columns.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286000"/>
            <a:ext cx="306324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350008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High VIF confirmed for: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TotServices, BilledServices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Units, Load, year, month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12480" cy="126187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2064" y="362102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" y="3621024"/>
            <a:ext cx="38404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60273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Cramér’s V — Geographic Columns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922776"/>
            <a:ext cx="4389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Division, SubDivision, Section, Area showed strong mutual association.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dropped — encoded into 1 composite location-frequency feature.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639312"/>
            <a:ext cx="306324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37033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geo cols → 1 frequency 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'areas' encodes relative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location weight per row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5A92B-A61F-29E5-9666-CE632C20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F5E208-D206-5F60-AAF8-0A2E7275E5D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B4E538-403C-82EA-EC87-4A8B33DE2E0E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Three Key Findings</a:t>
            </a:r>
            <a:endParaRPr lang="en-US" sz="2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0694FC-4CF0-1463-A03E-ED113547B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14" y="2700660"/>
            <a:ext cx="3122266" cy="234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E6B3DE9-AA59-2504-90B3-4D47F16BC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486" y="2745442"/>
            <a:ext cx="3094650" cy="230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D6BA0EA-06BF-4530-65F7-82418EB56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699" y="734238"/>
            <a:ext cx="2694101" cy="192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6DEFAC6-E8C2-F16F-A6A1-310BE8E4E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4" y="826261"/>
            <a:ext cx="5165558" cy="17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93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4 Constructed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5196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time_index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62072" y="950976"/>
            <a:ext cx="1554480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71216" y="960120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16736"/>
            <a:ext cx="395020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36245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(year - year.min()) * 12 + month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redundant year/month into a single monotonic temporal signal. Removes both correlated columns in one step.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25196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41248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932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96912" y="950976"/>
            <a:ext cx="1554480" cy="274320"/>
          </a:xfrm>
          <a:prstGeom prst="rect">
            <a:avLst/>
          </a:prstGeom>
          <a:solidFill>
            <a:srgbClr val="FEE2E2"/>
          </a:solidFill>
          <a:ln w="1016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06056" y="960120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signal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316736"/>
            <a:ext cx="395020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136245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BilledServices / TotServices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755648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services actually billed. Close to 0 → consumption without billing — direct theft signal. Encodes the billing anomaly explicitly.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425196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52928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62072" y="2962656"/>
            <a:ext cx="1554480" cy="274320"/>
          </a:xfrm>
          <a:prstGeom prst="rect">
            <a:avLst/>
          </a:prstGeom>
          <a:solidFill>
            <a:srgbClr val="FEE2E2"/>
          </a:solidFill>
          <a:ln w="1016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71216" y="2971800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signal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395020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" y="33741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/ Load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767328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consumed per unit of load. Abnormally high ratio → meter under-reporting true consumption. Captures stuck/tampered/bypassed meters.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52928"/>
            <a:ext cx="4251960" cy="1901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852928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944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96912" y="2962656"/>
            <a:ext cx="1554480" cy="274320"/>
          </a:xfrm>
          <a:prstGeom prst="rect">
            <a:avLst/>
          </a:prstGeom>
          <a:solidFill>
            <a:srgbClr val="F0FDF4"/>
          </a:solidFill>
          <a:ln w="1016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06056" y="2971800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encoding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328416"/>
            <a:ext cx="395020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6048" y="33741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loc.value_counts(normalize=True)[row]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767328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all 5 geographic columns into relative location frequency. Rare location combinations receive low weights, flagging unusual areas.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input:   X = df[["time_index",  "billing_rate",  "efficiency",  "areas"]]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Distribution — January 2019 Sample  (n = 7,105)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4173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0624" y="859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74520" y="841248"/>
            <a:ext cx="1051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9384" y="8595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841248"/>
            <a:ext cx="868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72384" y="8595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841248"/>
            <a:ext cx="640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32504" y="859536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8595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1234440"/>
            <a:ext cx="1417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12801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1234440"/>
            <a:ext cx="105156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9384" y="1280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561.88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234440"/>
            <a:ext cx="868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72384" y="12801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1234440"/>
            <a:ext cx="6400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32504" y="12801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411480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64024" y="128016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right skew — extreme high-consumption outliers present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709928"/>
            <a:ext cx="1417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1709928"/>
            <a:ext cx="1051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29384" y="17556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1709928"/>
            <a:ext cx="868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72384" y="17556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77640" y="1709928"/>
            <a:ext cx="6400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32504" y="1755648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709928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64024" y="175564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Units — correlated extreme tails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185416"/>
            <a:ext cx="1417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" y="22311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2185416"/>
            <a:ext cx="105156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29384" y="22311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2185416"/>
            <a:ext cx="868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72384" y="223113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77640" y="2185416"/>
            <a:ext cx="6400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32504" y="2231136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185416"/>
            <a:ext cx="411480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64024" y="2231136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Bimodal: 0 (entirely unbilled) and 1 (fully billed)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660904"/>
            <a:ext cx="141732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0624" y="27066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2660904"/>
            <a:ext cx="105156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929384" y="27066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17520" y="2660904"/>
            <a:ext cx="86868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072384" y="27066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167.91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77640" y="2660904"/>
            <a:ext cx="64008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32504" y="2706624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2660904"/>
            <a:ext cx="4114800" cy="429768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64024" y="270662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heavy tail — primary range for theft signals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3136392"/>
            <a:ext cx="1417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0624" y="31821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74520" y="3136392"/>
            <a:ext cx="105156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929384" y="318211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017520" y="3136392"/>
            <a:ext cx="868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072384" y="31821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977640" y="3136392"/>
            <a:ext cx="6400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032504" y="3182112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09160" y="3136392"/>
            <a:ext cx="411480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64024" y="318211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Frequency-encoded location weight — rare areas score low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02920" y="37673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— normalises to zero mean and unit variance before ODIF.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577840" y="3794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scaler.fit_transform(X)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4325112"/>
            <a:ext cx="8412480" cy="54864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02920" y="439826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16 rows had Load = 0 → efficiency undefined (division by zero). Dropped before modelling. Final dataset: 7,105 rows.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 — ODIF on NPDCL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DeepIF Configuration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4005072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2928" y="13898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140817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ODIF mode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755648"/>
            <a:ext cx="4005072" cy="347472"/>
          </a:xfrm>
          <a:prstGeom prst="rect">
            <a:avLst/>
          </a:prstGeom>
          <a:solidFill>
            <a:srgbClr val="162F4E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792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representations_number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52928" y="179222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1810512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50 projection spaces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157984"/>
            <a:ext cx="4005072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194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trees_per_representation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52928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212848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6 trees 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560320"/>
            <a:ext cx="4005072" cy="347472"/>
          </a:xfrm>
          <a:prstGeom prst="rect">
            <a:avLst/>
          </a:prstGeom>
          <a:solidFill>
            <a:srgbClr val="162F4E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2596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samples_number_per_tree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2928" y="259689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2615184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256 per tree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" y="2962656"/>
            <a:ext cx="4005072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2999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network_hidden_dimensions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52928" y="29992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11880" y="301752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layer MLP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3364992"/>
            <a:ext cx="4005072" cy="347472"/>
          </a:xfrm>
          <a:prstGeom prst="rect">
            <a:avLst/>
          </a:prstGeom>
          <a:solidFill>
            <a:srgbClr val="162F4E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401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representation_dimensionality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52928" y="34015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to ℝ²⁰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" y="3767328"/>
            <a:ext cx="4005072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3803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52928" y="380390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11880" y="3822192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868680"/>
            <a:ext cx="4160520" cy="3337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96012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ODIF Pre-Sampling Impact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1371600"/>
            <a:ext cx="388620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9472" y="14356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built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55080" y="14356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× t = 50 × 6 = 300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1901952"/>
            <a:ext cx="388620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19472" y="19659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needed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55080" y="1965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× n = 6 × 256 = 1,536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2432304"/>
            <a:ext cx="388620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19472" y="24963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 transforms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55080" y="24963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 rows (100,000+)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2962656"/>
            <a:ext cx="3886200" cy="457200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19472" y="30266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ODIF transforms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55080" y="30266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≤1,536 unique rows only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00600" y="3547872"/>
            <a:ext cx="3886200" cy="566928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36576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~65× fewer samples transformed by CERE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0040" y="4325112"/>
            <a:ext cx="8503920" cy="621792"/>
          </a:xfrm>
          <a:prstGeom prst="rect">
            <a:avLst/>
          </a:prstGeom>
          <a:solidFill>
            <a:srgbClr val="0D334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 np.percentile(scores, 99)  —  top 1% flagged as anomalous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distribution: dense low-score normal mass with a sparse anomalous high-score tail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12A8C6-BCD5-AD43-73D0-5222A9244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9076"/>
            <a:ext cx="9144000" cy="360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A22B5-F083-1C07-12A9-456069EA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194429-0B4C-85A7-6DE5-9FE305EBC132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76034-EE91-AC63-A7E5-D8D4627EB673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Profile — What the Model Found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662106-8C2C-C494-6FFA-9A52E28FA1C6}"/>
              </a:ext>
            </a:extLst>
          </p:cNvPr>
          <p:cNvSpPr/>
          <p:nvPr/>
        </p:nvSpPr>
        <p:spPr>
          <a:xfrm>
            <a:off x="457200" y="84124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Anomalous Mean Comparison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CB5BC0-0421-210E-12DB-51556FE3693C}"/>
              </a:ext>
            </a:extLst>
          </p:cNvPr>
          <p:cNvSpPr/>
          <p:nvPr/>
        </p:nvSpPr>
        <p:spPr>
          <a:xfrm>
            <a:off x="365760" y="1188720"/>
            <a:ext cx="128930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785AD3-89BE-A56C-F582-AFEF5B9533B9}"/>
              </a:ext>
            </a:extLst>
          </p:cNvPr>
          <p:cNvSpPr/>
          <p:nvPr/>
        </p:nvSpPr>
        <p:spPr>
          <a:xfrm>
            <a:off x="420624" y="1207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3FDA5B-AFBE-00CB-F5D2-4313F35258D6}"/>
              </a:ext>
            </a:extLst>
          </p:cNvPr>
          <p:cNvSpPr/>
          <p:nvPr/>
        </p:nvSpPr>
        <p:spPr>
          <a:xfrm>
            <a:off x="1737360" y="1188720"/>
            <a:ext cx="124358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CDB170-DE68-23A0-A7C9-852A2A916CFC}"/>
              </a:ext>
            </a:extLst>
          </p:cNvPr>
          <p:cNvSpPr/>
          <p:nvPr/>
        </p:nvSpPr>
        <p:spPr>
          <a:xfrm>
            <a:off x="1792224" y="1207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mean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F63631-6BA1-5486-4C87-EDA05D10F7AC}"/>
              </a:ext>
            </a:extLst>
          </p:cNvPr>
          <p:cNvSpPr/>
          <p:nvPr/>
        </p:nvSpPr>
        <p:spPr>
          <a:xfrm>
            <a:off x="3063240" y="1188720"/>
            <a:ext cx="119786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189B34-2FC8-4A9A-182A-841B99B56F36}"/>
              </a:ext>
            </a:extLst>
          </p:cNvPr>
          <p:cNvSpPr/>
          <p:nvPr/>
        </p:nvSpPr>
        <p:spPr>
          <a:xfrm>
            <a:off x="3118104" y="12070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mean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2EABF7-182A-851C-BFE6-A5FCD3CAD8DB}"/>
              </a:ext>
            </a:extLst>
          </p:cNvPr>
          <p:cNvSpPr/>
          <p:nvPr/>
        </p:nvSpPr>
        <p:spPr>
          <a:xfrm>
            <a:off x="4315968" y="1188720"/>
            <a:ext cx="147218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91B6BB-C2F2-2C80-86D7-B2777008D195}"/>
              </a:ext>
            </a:extLst>
          </p:cNvPr>
          <p:cNvSpPr/>
          <p:nvPr/>
        </p:nvSpPr>
        <p:spPr>
          <a:xfrm>
            <a:off x="4370832" y="1207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B5AE822-46A8-1EC4-C443-327B14C869F9}"/>
              </a:ext>
            </a:extLst>
          </p:cNvPr>
          <p:cNvSpPr/>
          <p:nvPr/>
        </p:nvSpPr>
        <p:spPr>
          <a:xfrm>
            <a:off x="365760" y="1581912"/>
            <a:ext cx="128930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1039B5-8817-360E-3354-2076C2F3E322}"/>
              </a:ext>
            </a:extLst>
          </p:cNvPr>
          <p:cNvSpPr/>
          <p:nvPr/>
        </p:nvSpPr>
        <p:spPr>
          <a:xfrm>
            <a:off x="420624" y="16276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billing_rate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48B190-B64A-7F32-3A66-BF4D4CA65B15}"/>
              </a:ext>
            </a:extLst>
          </p:cNvPr>
          <p:cNvSpPr/>
          <p:nvPr/>
        </p:nvSpPr>
        <p:spPr>
          <a:xfrm>
            <a:off x="1737360" y="1581912"/>
            <a:ext cx="12435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CA64E0E-ABFC-0D24-9C01-E849DB565779}"/>
              </a:ext>
            </a:extLst>
          </p:cNvPr>
          <p:cNvSpPr/>
          <p:nvPr/>
        </p:nvSpPr>
        <p:spPr>
          <a:xfrm>
            <a:off x="1792224" y="1627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6A2A700-66EC-143B-A9C0-E43E3A127666}"/>
              </a:ext>
            </a:extLst>
          </p:cNvPr>
          <p:cNvSpPr/>
          <p:nvPr/>
        </p:nvSpPr>
        <p:spPr>
          <a:xfrm>
            <a:off x="3063240" y="1581912"/>
            <a:ext cx="119786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34F182-17B9-4AD3-E404-7D1E34379637}"/>
              </a:ext>
            </a:extLst>
          </p:cNvPr>
          <p:cNvSpPr/>
          <p:nvPr/>
        </p:nvSpPr>
        <p:spPr>
          <a:xfrm>
            <a:off x="3118104" y="16276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~0.18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7CCF01D-3BE3-FE7A-40C1-0402B5CB6BCC}"/>
              </a:ext>
            </a:extLst>
          </p:cNvPr>
          <p:cNvSpPr/>
          <p:nvPr/>
        </p:nvSpPr>
        <p:spPr>
          <a:xfrm>
            <a:off x="4315968" y="1581912"/>
            <a:ext cx="14721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2FC7D60-C736-5FA1-133E-428BDD6EB739}"/>
              </a:ext>
            </a:extLst>
          </p:cNvPr>
          <p:cNvSpPr/>
          <p:nvPr/>
        </p:nvSpPr>
        <p:spPr>
          <a:xfrm>
            <a:off x="4370832" y="16276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 — theft signal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87E81DB-80F8-4AEF-8725-3E4293F76D50}"/>
              </a:ext>
            </a:extLst>
          </p:cNvPr>
          <p:cNvSpPr/>
          <p:nvPr/>
        </p:nvSpPr>
        <p:spPr>
          <a:xfrm>
            <a:off x="365760" y="2039112"/>
            <a:ext cx="1289304" cy="402336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E8EEB21-FD03-ACE7-3BEA-57821E66DB29}"/>
              </a:ext>
            </a:extLst>
          </p:cNvPr>
          <p:cNvSpPr/>
          <p:nvPr/>
        </p:nvSpPr>
        <p:spPr>
          <a:xfrm>
            <a:off x="420624" y="20848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C4A0032-2C3C-3E85-BB7F-E42DD460F36D}"/>
              </a:ext>
            </a:extLst>
          </p:cNvPr>
          <p:cNvSpPr/>
          <p:nvPr/>
        </p:nvSpPr>
        <p:spPr>
          <a:xfrm>
            <a:off x="1737360" y="2039112"/>
            <a:ext cx="1243584" cy="402336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7EA016A-DD67-31F5-84A6-010B9F09F1D2}"/>
              </a:ext>
            </a:extLst>
          </p:cNvPr>
          <p:cNvSpPr/>
          <p:nvPr/>
        </p:nvSpPr>
        <p:spPr>
          <a:xfrm>
            <a:off x="1792224" y="2084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B4C742A-83A4-F21F-E654-5400D60EA447}"/>
              </a:ext>
            </a:extLst>
          </p:cNvPr>
          <p:cNvSpPr/>
          <p:nvPr/>
        </p:nvSpPr>
        <p:spPr>
          <a:xfrm>
            <a:off x="3063240" y="2039112"/>
            <a:ext cx="1197864" cy="402336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85EF5D-51C5-B57E-6D89-9CB692C2A7F9}"/>
              </a:ext>
            </a:extLst>
          </p:cNvPr>
          <p:cNvSpPr/>
          <p:nvPr/>
        </p:nvSpPr>
        <p:spPr>
          <a:xfrm>
            <a:off x="3118104" y="20848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~1183</a:t>
            </a:r>
            <a:endParaRPr lang="en-US" sz="11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64C7BFB-B546-8923-EFA9-D524D1552D6E}"/>
              </a:ext>
            </a:extLst>
          </p:cNvPr>
          <p:cNvSpPr/>
          <p:nvPr/>
        </p:nvSpPr>
        <p:spPr>
          <a:xfrm>
            <a:off x="4315968" y="2039112"/>
            <a:ext cx="1472184" cy="402336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AE60192-CAB1-8639-378E-4F089805C8CD}"/>
              </a:ext>
            </a:extLst>
          </p:cNvPr>
          <p:cNvSpPr/>
          <p:nvPr/>
        </p:nvSpPr>
        <p:spPr>
          <a:xfrm>
            <a:off x="4370832" y="20848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 — tampering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5C491C3-0DBA-CB8A-2565-11CF847B1F83}"/>
              </a:ext>
            </a:extLst>
          </p:cNvPr>
          <p:cNvSpPr/>
          <p:nvPr/>
        </p:nvSpPr>
        <p:spPr>
          <a:xfrm>
            <a:off x="365760" y="2496312"/>
            <a:ext cx="128930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3B97845-F9FC-BB19-97C8-E7AA8EF8FE7F}"/>
              </a:ext>
            </a:extLst>
          </p:cNvPr>
          <p:cNvSpPr/>
          <p:nvPr/>
        </p:nvSpPr>
        <p:spPr>
          <a:xfrm>
            <a:off x="420624" y="25420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time_index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82BC4EA-3DC2-ECE5-1BFC-06B15BA7668E}"/>
              </a:ext>
            </a:extLst>
          </p:cNvPr>
          <p:cNvSpPr/>
          <p:nvPr/>
        </p:nvSpPr>
        <p:spPr>
          <a:xfrm>
            <a:off x="1737360" y="2496312"/>
            <a:ext cx="12435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57DECF3-DF72-0B06-AF34-E243CD2EE8AC}"/>
              </a:ext>
            </a:extLst>
          </p:cNvPr>
          <p:cNvSpPr/>
          <p:nvPr/>
        </p:nvSpPr>
        <p:spPr>
          <a:xfrm>
            <a:off x="1792224" y="2542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D6AE899-5627-FB1E-CCA1-9FA586C4ABC2}"/>
              </a:ext>
            </a:extLst>
          </p:cNvPr>
          <p:cNvSpPr/>
          <p:nvPr/>
        </p:nvSpPr>
        <p:spPr>
          <a:xfrm>
            <a:off x="3063240" y="2496312"/>
            <a:ext cx="119786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6EA325B-442E-26BD-77F4-531111FBE4A9}"/>
              </a:ext>
            </a:extLst>
          </p:cNvPr>
          <p:cNvSpPr/>
          <p:nvPr/>
        </p:nvSpPr>
        <p:spPr>
          <a:xfrm>
            <a:off x="3118104" y="25420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E6CB626-C3CF-6CE5-8253-001EDA6512C1}"/>
              </a:ext>
            </a:extLst>
          </p:cNvPr>
          <p:cNvSpPr/>
          <p:nvPr/>
        </p:nvSpPr>
        <p:spPr>
          <a:xfrm>
            <a:off x="4315968" y="2496312"/>
            <a:ext cx="14721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DC43D6D-4880-DBE6-F092-8FDEA2D8BD65}"/>
              </a:ext>
            </a:extLst>
          </p:cNvPr>
          <p:cNvSpPr/>
          <p:nvPr/>
        </p:nvSpPr>
        <p:spPr>
          <a:xfrm>
            <a:off x="4370832" y="25420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pattern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F5794AC-A65E-7C60-056F-720886F26B1D}"/>
              </a:ext>
            </a:extLst>
          </p:cNvPr>
          <p:cNvSpPr/>
          <p:nvPr/>
        </p:nvSpPr>
        <p:spPr>
          <a:xfrm>
            <a:off x="365760" y="2953512"/>
            <a:ext cx="128930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8FF728B-C7D8-28AC-306F-080A15BC6CA3}"/>
              </a:ext>
            </a:extLst>
          </p:cNvPr>
          <p:cNvSpPr/>
          <p:nvPr/>
        </p:nvSpPr>
        <p:spPr>
          <a:xfrm>
            <a:off x="420624" y="29992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areas</a:t>
            </a:r>
            <a:endParaRPr lang="en-US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A5CA9FF-AAD9-1F95-E1AE-47D9AA57C15B}"/>
              </a:ext>
            </a:extLst>
          </p:cNvPr>
          <p:cNvSpPr/>
          <p:nvPr/>
        </p:nvSpPr>
        <p:spPr>
          <a:xfrm>
            <a:off x="1737360" y="2953512"/>
            <a:ext cx="12435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B992B1D-69CC-C02F-1014-FD0625C1EDD4}"/>
              </a:ext>
            </a:extLst>
          </p:cNvPr>
          <p:cNvSpPr/>
          <p:nvPr/>
        </p:nvSpPr>
        <p:spPr>
          <a:xfrm>
            <a:off x="1792224" y="29992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312746-6448-0297-5D9D-2AD01C693423}"/>
              </a:ext>
            </a:extLst>
          </p:cNvPr>
          <p:cNvSpPr/>
          <p:nvPr/>
        </p:nvSpPr>
        <p:spPr>
          <a:xfrm>
            <a:off x="3063240" y="2953512"/>
            <a:ext cx="119786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C6A9EAF-6B21-C8A9-A426-CA618CF0F3B3}"/>
              </a:ext>
            </a:extLst>
          </p:cNvPr>
          <p:cNvSpPr/>
          <p:nvPr/>
        </p:nvSpPr>
        <p:spPr>
          <a:xfrm>
            <a:off x="3118104" y="29992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~0.02</a:t>
            </a:r>
            <a:endParaRPr lang="en-US" sz="11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2C46CAF-81BA-E678-19B0-37D4EBB113BD}"/>
              </a:ext>
            </a:extLst>
          </p:cNvPr>
          <p:cNvSpPr/>
          <p:nvPr/>
        </p:nvSpPr>
        <p:spPr>
          <a:xfrm>
            <a:off x="4315968" y="2953512"/>
            <a:ext cx="1472184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5A3B367-EA53-AE28-373C-658BFA3DFAA3}"/>
              </a:ext>
            </a:extLst>
          </p:cNvPr>
          <p:cNvSpPr/>
          <p:nvPr/>
        </p:nvSpPr>
        <p:spPr>
          <a:xfrm>
            <a:off x="4370832" y="29992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pattern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6F6C1C5E-A591-B762-3ED3-7C21453238FF}"/>
              </a:ext>
            </a:extLst>
          </p:cNvPr>
          <p:cNvSpPr/>
          <p:nvPr/>
        </p:nvSpPr>
        <p:spPr>
          <a:xfrm>
            <a:off x="6080760" y="841248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D8BDACE-12DF-2BAD-A6A6-AA4DCE3C6B81}"/>
              </a:ext>
            </a:extLst>
          </p:cNvPr>
          <p:cNvSpPr/>
          <p:nvPr/>
        </p:nvSpPr>
        <p:spPr>
          <a:xfrm>
            <a:off x="6080760" y="8412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C195C5E-4AAB-4B01-3B41-3368CF6CF5E4}"/>
              </a:ext>
            </a:extLst>
          </p:cNvPr>
          <p:cNvSpPr/>
          <p:nvPr/>
        </p:nvSpPr>
        <p:spPr>
          <a:xfrm>
            <a:off x="6080760" y="1188720"/>
            <a:ext cx="2743200" cy="324612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DFC423B-76D7-A3E0-C6C3-12F3ACF06012}"/>
              </a:ext>
            </a:extLst>
          </p:cNvPr>
          <p:cNvSpPr/>
          <p:nvPr/>
        </p:nvSpPr>
        <p:spPr>
          <a:xfrm>
            <a:off x="6080760" y="1188720"/>
            <a:ext cx="73152" cy="3246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1A6D19A-856D-55CD-5C70-A4240F597129}"/>
              </a:ext>
            </a:extLst>
          </p:cNvPr>
          <p:cNvSpPr/>
          <p:nvPr/>
        </p:nvSpPr>
        <p:spPr>
          <a:xfrm>
            <a:off x="626364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 Tampering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Bypass</a:t>
            </a:r>
            <a:endParaRPr lang="en-US" sz="14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F93CD09-E419-043D-A058-D68B9BAF8580}"/>
              </a:ext>
            </a:extLst>
          </p:cNvPr>
          <p:cNvSpPr/>
          <p:nvPr/>
        </p:nvSpPr>
        <p:spPr>
          <a:xfrm>
            <a:off x="6263640" y="1828800"/>
            <a:ext cx="245059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 consumption
(Units ↑ and Load ↑)
</a:t>
            </a: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Under-reporting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billed
services (billing_rate ↓)
</a:t>
            </a: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units-to-load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(efficiency ↑)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is not accurately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true consumption.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8312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— ODIF Pipeline Generalisability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834640" cy="3794760"/>
          </a:xfrm>
          <a:prstGeom prst="rect">
            <a:avLst/>
          </a:prstGeom>
          <a:solidFill>
            <a:srgbClr val="0D2F4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960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9692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883664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Theft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265176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meter tampering.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3783724"/>
            <a:ext cx="2487168" cy="587108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38587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consumption · Low billing rate · High efficiency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868680"/>
            <a:ext cx="2834640" cy="379476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70248" y="960120"/>
            <a:ext cx="822960" cy="8229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0248" y="9692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01568" y="18836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Faulty Equipment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consuming abnormal power relative to rated load.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474720"/>
            <a:ext cx="2487168" cy="62179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35844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Distinguishable from theft via geographic context (industrial vs residential)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868680"/>
            <a:ext cx="2834640" cy="3794760"/>
          </a:xfrm>
          <a:prstGeom prst="rect">
            <a:avLst/>
          </a:prstGeom>
          <a:solidFill>
            <a:srgbClr val="112240"/>
          </a:solidFill>
          <a:ln w="12700">
            <a:solidFill>
              <a:srgbClr val="2A4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14616" y="960120"/>
            <a:ext cx="822960" cy="8229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14616" y="9692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45936" y="18836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233172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patterns often precede equipment failures: overheating, motor wear, bearing failures.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3368" y="3474720"/>
            <a:ext cx="2487168" cy="621792"/>
          </a:xfrm>
          <a:prstGeom prst="rect">
            <a:avLst/>
          </a:prstGeom>
          <a:solidFill>
            <a:srgbClr val="1A3A5C"/>
          </a:solidFill>
          <a:ln w="635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64808" y="35844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reduces downtime and repair cost before failure occurs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773168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— 4 engineered features, ODIF scoring, 99th percentile threshold — applies across all three domains.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2480</Words>
  <Application>Microsoft Macintosh PowerPoint</Application>
  <PresentationFormat>On-screen Show (16:9)</PresentationFormat>
  <Paragraphs>438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Review — Deep Isolation Forest</dc:title>
  <dc:subject>PptxGenJS Presentation</dc:subject>
  <dc:creator>PptxGenJS</dc:creator>
  <cp:lastModifiedBy>Aman Jalan</cp:lastModifiedBy>
  <cp:revision>4</cp:revision>
  <dcterms:created xsi:type="dcterms:W3CDTF">2026-05-22T14:05:53Z</dcterms:created>
  <dcterms:modified xsi:type="dcterms:W3CDTF">2026-06-11T09:40:39Z</dcterms:modified>
</cp:coreProperties>
</file>